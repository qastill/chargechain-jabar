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79" y="0"/>
            <a:ext cx="4297680" cy="6858000"/>
          </a:xfrm>
          <a:prstGeom prst="rect">
            <a:avLst/>
          </a:prstGeom>
          <a:solidFill>
            <a:srgbClr val="10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0" y="914400"/>
            <a:ext cx="3108960" cy="502920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58200" y="1737360"/>
            <a:ext cx="3108960" cy="502920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2FA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19" y="2560320"/>
            <a:ext cx="3108960" cy="502920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02412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AD3F3"/>
                </a:solidFill>
                <a:latin typeface="Calibri"/>
              </a:rPr>
              <a:t>⚡ DC FAST · AC · TOKEN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84708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FA84F"/>
                </a:solidFill>
                <a:latin typeface="Calibri"/>
              </a:rPr>
              <a:t>YIELD 13% · ASSET-BACKED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67004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A82E"/>
                </a:solidFill>
                <a:latin typeface="Calibri"/>
              </a:rPr>
              <a:t>BURSA SEKUNDER 24/7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868680"/>
            <a:ext cx="8851392" cy="292608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859536"/>
            <a:ext cx="88513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2233"/>
                </a:solidFill>
                <a:latin typeface="Calibri"/>
              </a:rPr>
              <a:t>INNOVATION GATEWAY 2026  ·  KATEGORI: NEXT-GEN BUSINESS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00B4D8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ChargeChain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331720"/>
            <a:ext cx="7406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Pasar Modal Token SPKLU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11880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C7D6E0"/>
                </a:solidFill>
                <a:latin typeface="Calibri"/>
              </a:rPr>
              <a:t>Mengubah arus kas masa depan SPKLU yang </a:t>
            </a:r>
            <a:r>
              <a:rPr sz="1500" b="1">
                <a:solidFill>
                  <a:srgbClr val="1AD3F3"/>
                </a:solidFill>
                <a:latin typeface="Calibri"/>
              </a:rPr>
              <a:t>sudah beroperasi</a:t>
            </a:r>
            <a:r>
              <a:rPr sz="1500" b="0">
                <a:solidFill>
                  <a:srgbClr val="C7D6E0"/>
                </a:solidFill>
                <a:latin typeface="Calibri"/>
              </a:rPr>
              <a:t> menjadi modal hari ini — tanpa menjual aset, tanpa menambah utang.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709160"/>
            <a:ext cx="7040880" cy="18288"/>
          </a:xfrm>
          <a:prstGeom prst="rect">
            <a:avLst/>
          </a:prstGeom>
          <a:solidFill>
            <a:srgbClr val="2B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7315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D3F3"/>
                </a:solidFill>
                <a:latin typeface="Calibri"/>
              </a:rPr>
              <a:t>Tim Inovator: </a:t>
            </a:r>
            <a:r>
              <a:rPr sz="1200" b="0">
                <a:solidFill>
                  <a:srgbClr val="FFFFFF"/>
                </a:solidFill>
                <a:latin typeface="Calibri"/>
              </a:rPr>
              <a:t>&lt;Nama Anggota 1&gt;  ·  &lt;Nama Anggota 2&gt;  ·  &lt;Nama Anggota 3&gt;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D3F3"/>
                </a:solidFill>
                <a:latin typeface="Calibri"/>
              </a:rPr>
              <a:t>Unit: </a:t>
            </a:r>
            <a:r>
              <a:rPr sz="1200" b="0">
                <a:solidFill>
                  <a:srgbClr val="FFFFFF"/>
                </a:solidFill>
                <a:latin typeface="Calibri"/>
              </a:rPr>
              <a:t>PT PLN (Persero) — UID Jawa Barat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D3F3"/>
                </a:solidFill>
                <a:latin typeface="Calibri"/>
              </a:rPr>
              <a:t>Tanggal: </a:t>
            </a:r>
            <a:r>
              <a:rPr sz="1200" b="0">
                <a:solidFill>
                  <a:srgbClr val="FFFFFF"/>
                </a:solidFill>
                <a:latin typeface="Calibri"/>
              </a:rPr>
              <a:t>Juni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FA6B4"/>
                </a:solidFill>
                <a:latin typeface="Calibri"/>
              </a:rPr>
              <a:t>www.pln.co.id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8495" y="640080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FA6B4"/>
                </a:solidFill>
                <a:latin typeface="Calibri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1426464" cy="292608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14264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D3F3"/>
                </a:solidFill>
                <a:latin typeface="Calibri"/>
              </a:rPr>
              <a:t>RINGKASAN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B2233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B79"/>
                </a:solidFill>
                <a:latin typeface="Calibri"/>
              </a:rPr>
              <a:t>Ringkasan 1 halaman — elevator pitch dari seluruh proposal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0116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039112"/>
            <a:ext cx="2670048" cy="114300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039112"/>
            <a:ext cx="2670048" cy="64008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185416"/>
            <a:ext cx="23408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0B4D8"/>
                </a:solidFill>
                <a:latin typeface="Calibri"/>
              </a:rPr>
              <a:t>329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97480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B2233"/>
                </a:solidFill>
                <a:latin typeface="Calibri"/>
              </a:rPr>
              <a:t>SPKLU AKTIF (JABAR)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9"/>
                </a:solidFill>
                <a:latin typeface="Calibri"/>
              </a:rPr>
              <a:t>menghasilkan arus kas riil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2039112"/>
            <a:ext cx="2670048" cy="114300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10128" y="2039112"/>
            <a:ext cx="2670048" cy="64008"/>
          </a:xfrm>
          <a:prstGeom prst="roundRect">
            <a:avLst>
              <a:gd name="adj" fmla="val 6000"/>
            </a:avLst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185416"/>
            <a:ext cx="23408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2FA84F"/>
                </a:solidFill>
                <a:latin typeface="Calibri"/>
              </a:rPr>
              <a:t>Rp 70,7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B2233"/>
                </a:solidFill>
                <a:latin typeface="Calibri"/>
              </a:rPr>
              <a:t>PENDAPATAN / TAHUN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9"/>
                </a:solidFill>
                <a:latin typeface="Calibri"/>
              </a:rPr>
              <a:t>run-rate aktual Mar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17336" y="2039112"/>
            <a:ext cx="2670048" cy="114300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17336" y="2039112"/>
            <a:ext cx="2670048" cy="64008"/>
          </a:xfrm>
          <a:prstGeom prst="roundRect">
            <a:avLst>
              <a:gd name="adj" fmla="val 6000"/>
            </a:avLst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7" y="2185416"/>
            <a:ext cx="23408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0A82E"/>
                </a:solidFill>
                <a:latin typeface="Calibri"/>
              </a:rPr>
              <a:t>Rp 83,4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7" y="2697480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B2233"/>
                </a:solidFill>
                <a:latin typeface="Calibri"/>
              </a:rPr>
              <a:t>KAPITALISASI TOKEN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7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9"/>
                </a:solidFill>
                <a:latin typeface="Calibri"/>
              </a:rPr>
              <a:t>837.600 token @ Rp 100rb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24544" y="2039112"/>
            <a:ext cx="2670048" cy="114300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24544" y="2039112"/>
            <a:ext cx="2670048" cy="6400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9136" y="2185416"/>
            <a:ext cx="23408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8B5CF6"/>
                </a:solidFill>
                <a:latin typeface="Calibri"/>
              </a:rPr>
              <a:t>~13%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697480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B2233"/>
                </a:solidFill>
                <a:latin typeface="Calibri"/>
              </a:rPr>
              <a:t>YIELD KE INVESTOR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9136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9"/>
                </a:solidFill>
                <a:latin typeface="Calibri"/>
              </a:rPr>
              <a:t>dari arus kas, bukan janji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410712"/>
            <a:ext cx="35387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3410712"/>
            <a:ext cx="73152" cy="1371600"/>
          </a:xfrm>
          <a:prstGeom prst="roundRect">
            <a:avLst>
              <a:gd name="adj" fmla="val 6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3557016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2233"/>
                </a:solidFill>
                <a:latin typeface="Calibri"/>
              </a:rPr>
              <a:t>PROBLEM / OPPORTUNITY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3977640"/>
            <a:ext cx="311810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E5484D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Ribuan SPKLU PLN sudah dibangun (CAPEX besar) namun nilainya terkunci di aset.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E5484D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Tidak ada mekanisme pasar untuk memonetisasi arus kasnya &amp; melibatkan publik.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70248" y="3410712"/>
            <a:ext cx="35387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270248" y="3410712"/>
            <a:ext cx="73152" cy="1371600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71416" y="3557016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2233"/>
                </a:solidFill>
                <a:latin typeface="Calibri"/>
              </a:rPr>
              <a:t>SOLUTION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9704" y="3977640"/>
            <a:ext cx="311810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00B4D8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Token bagi-hasil (SRT) beragun SPKLU yang sudah beroperasi.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00B4D8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Diperjualbelikan di bursa sekunder — asset-backed, likuid, transparan.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37575" y="3410712"/>
            <a:ext cx="353872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37575" y="3410712"/>
            <a:ext cx="73152" cy="13716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38744" y="3557016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2233"/>
                </a:solidFill>
                <a:latin typeface="Calibri"/>
              </a:rPr>
              <a:t>TARGET CUSTOMER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7031" y="3977640"/>
            <a:ext cx="311810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8B5CF6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Investor ritel (pengguna PLN Mobile), institusi &amp; ESG fund.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8B5CF6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Komunitas pemilik EV, Pemda/BUMD yang ingin co-investasi infrastruktur.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892040"/>
            <a:ext cx="54589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4892040"/>
            <a:ext cx="73152" cy="1371600"/>
          </a:xfrm>
          <a:prstGeom prst="roundRect">
            <a:avLst>
              <a:gd name="adj" fmla="val 6000"/>
            </a:avLst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" y="5038344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2233"/>
                </a:solidFill>
                <a:latin typeface="Calibri"/>
              </a:rPr>
              <a:t>BUSINESS VALUE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" y="5458968"/>
            <a:ext cx="50383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2FA84F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SOM Rp 83,4 M (kini) · SAM ±Rp 532 M · TAM ±Rp 12 T (2030).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2FA84F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Memobilisasi ±Rp 240 M modal untuk PLN dalam 5 tahun, tanpa utang baru; marjin &amp; aset tetap di PLN.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99048" y="4892040"/>
            <a:ext cx="53583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099048" y="4892040"/>
            <a:ext cx="73152" cy="1371600"/>
          </a:xfrm>
          <a:prstGeom prst="roundRect">
            <a:avLst>
              <a:gd name="adj" fmla="val 6000"/>
            </a:avLst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0216" y="5038344"/>
            <a:ext cx="49743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2233"/>
                </a:solidFill>
                <a:latin typeface="Calibri"/>
              </a:rPr>
              <a:t>TRACTION &amp; TIMELINE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18504" y="545896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E0A82E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Prototype platform sudah LIVE (data 101.020 transaksi riil).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E0A82E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GTM 3 fase: Pilot Jabar (Y1) → Ekspansi PLN nasional (Y2-3) → Skala ekosistem (Y4-5).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B4D8"/>
                </a:solidFill>
                <a:latin typeface="Calibri"/>
              </a:rPr>
              <a:t>● </a:t>
            </a:r>
            <a:r>
              <a:rPr sz="900" b="1">
                <a:solidFill>
                  <a:srgbClr val="0B2233"/>
                </a:solidFill>
                <a:latin typeface="Calibri"/>
              </a:rPr>
              <a:t>ChargeChain</a:t>
            </a:r>
            <a:r>
              <a:rPr sz="900" b="0">
                <a:solidFill>
                  <a:srgbClr val="5B6B79"/>
                </a:solidFill>
                <a:latin typeface="Calibri"/>
              </a:rPr>
              <a:t>  ·  Innovation Gateway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80015" y="64465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2 / 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5121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www.pln.co.id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4498848" cy="292608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44988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D3F3"/>
                </a:solidFill>
                <a:latin typeface="Calibri"/>
              </a:rPr>
              <a:t>SECTION A · PROBLEM &amp;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B2233"/>
                </a:solidFill>
                <a:latin typeface="Calibri"/>
              </a:rPr>
              <a:t>Problem / Opportunity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B79"/>
                </a:solidFill>
                <a:latin typeface="Calibri"/>
              </a:rPr>
              <a:t>Alur: Evidence → Pain → Consequence → Opportunity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0116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30552"/>
            <a:ext cx="261518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30552"/>
            <a:ext cx="2615184" cy="457200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2185416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📊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660904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B2233"/>
                </a:solidFill>
                <a:latin typeface="Calibri"/>
              </a:rPr>
              <a:t>Kondisi saat 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971800"/>
            <a:ext cx="232257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0B2233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PLN telah investasi besar membangun jaringan SPKLU nasional.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0B2233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Adopsi EV &amp; volume pengisian tumbuh pesat (101.020 tx/bln di Jabar saja).</a:t>
            </a:r>
          </a:p>
        </p:txBody>
      </p:sp>
      <p:sp>
        <p:nvSpPr>
          <p:cNvPr id="13" name="Chevron 12"/>
          <p:cNvSpPr/>
          <p:nvPr/>
        </p:nvSpPr>
        <p:spPr>
          <a:xfrm>
            <a:off x="3099816" y="3118104"/>
            <a:ext cx="237744" cy="237744"/>
          </a:xfrm>
          <a:prstGeom prst="chevron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82696" y="2130552"/>
            <a:ext cx="261518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82696" y="2130552"/>
            <a:ext cx="2615184" cy="457200"/>
          </a:xfrm>
          <a:prstGeom prst="roundRect">
            <a:avLst>
              <a:gd name="adj" fmla="val 6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2185416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⚠️ PAIN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660904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5484D"/>
                </a:solidFill>
                <a:latin typeface="Calibri"/>
              </a:rPr>
              <a:t>Gap di pasar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971800"/>
            <a:ext cx="232257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E5484D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Modal CAPEX terkunci di aset; ekspansi bersaing dengan prioritas lain.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E5484D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Belum ada instrumen memonetisasi arus kas SPKLU; publik tak bisa ikut memiliki.</a:t>
            </a:r>
          </a:p>
        </p:txBody>
      </p:sp>
      <p:sp>
        <p:nvSpPr>
          <p:cNvPr id="19" name="Chevron 18"/>
          <p:cNvSpPr/>
          <p:nvPr/>
        </p:nvSpPr>
        <p:spPr>
          <a:xfrm>
            <a:off x="5879592" y="3118104"/>
            <a:ext cx="237744" cy="237744"/>
          </a:xfrm>
          <a:prstGeom prst="chevron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62472" y="2130552"/>
            <a:ext cx="261518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62472" y="2130552"/>
            <a:ext cx="2615184" cy="457200"/>
          </a:xfrm>
          <a:prstGeom prst="roundRect">
            <a:avLst>
              <a:gd name="adj" fmla="val 6000"/>
            </a:avLst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0488" y="2185416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📉 CONSEQUENCE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6" y="2660904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0A82E"/>
                </a:solidFill>
                <a:latin typeface="Calibri"/>
              </a:rPr>
              <a:t>Dampak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8776" y="2971800"/>
            <a:ext cx="232257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E0A82E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Ekspansi SPKLU melambat; modal idle di aset produktif.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E0A82E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Valuasi jaringan tidak transparan; potensi pendapatan tidak teroptimalkan.</a:t>
            </a:r>
          </a:p>
        </p:txBody>
      </p:sp>
      <p:sp>
        <p:nvSpPr>
          <p:cNvPr id="25" name="Chevron 24"/>
          <p:cNvSpPr/>
          <p:nvPr/>
        </p:nvSpPr>
        <p:spPr>
          <a:xfrm>
            <a:off x="8659368" y="3118104"/>
            <a:ext cx="237744" cy="237744"/>
          </a:xfrm>
          <a:prstGeom prst="chevron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42248" y="2130552"/>
            <a:ext cx="2615184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42248" y="2130552"/>
            <a:ext cx="2615184" cy="457200"/>
          </a:xfrm>
          <a:prstGeom prst="roundRect">
            <a:avLst>
              <a:gd name="adj" fmla="val 6000"/>
            </a:avLst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70264" y="2185416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🚀 OPPORTUNITY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88552" y="2660904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FA84F"/>
                </a:solidFill>
                <a:latin typeface="Calibri"/>
              </a:rPr>
              <a:t>Peluang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88552" y="2971800"/>
            <a:ext cx="232257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2FA84F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Tokenisasi revenue-share → cairkan modal &amp; libatkan publik.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2FA84F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Percepat NZE 2060 + ciptakan kelas aset hijau baru di Indonesia.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645152"/>
            <a:ext cx="11183112" cy="868680"/>
          </a:xfrm>
          <a:prstGeom prst="roundRect">
            <a:avLst>
              <a:gd name="adj" fmla="val 6000"/>
            </a:avLst>
          </a:prstGeom>
          <a:solidFill>
            <a:srgbClr val="E9F6FA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745736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2233"/>
                </a:solidFill>
                <a:latin typeface="Calibri"/>
              </a:rPr>
              <a:t>Inti masalah: </a:t>
            </a:r>
            <a:r>
              <a:rPr sz="1200" b="0">
                <a:solidFill>
                  <a:srgbClr val="162430"/>
                </a:solidFill>
                <a:latin typeface="Calibri"/>
              </a:rPr>
              <a:t>Aset SPKLU yang sudah menghasilkan arus kas senilai ±Rp 70,7 M/tahun belum dapat dimonetisasi menjadi modal segar. ChargeChain mengubahnya menjadi instrumen pasar modal yang likuid dan dapat diakses publik.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B4D8"/>
                </a:solidFill>
                <a:latin typeface="Calibri"/>
              </a:rPr>
              <a:t>● </a:t>
            </a:r>
            <a:r>
              <a:rPr sz="900" b="1">
                <a:solidFill>
                  <a:srgbClr val="0B2233"/>
                </a:solidFill>
                <a:latin typeface="Calibri"/>
              </a:rPr>
              <a:t>ChargeChain</a:t>
            </a:r>
            <a:r>
              <a:rPr sz="900" b="0">
                <a:solidFill>
                  <a:srgbClr val="5B6B79"/>
                </a:solidFill>
                <a:latin typeface="Calibri"/>
              </a:rPr>
              <a:t>  ·  Innovation Gateway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0015" y="64465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3 / 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121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www.pln.co.id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4498848" cy="292608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44988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D3F3"/>
                </a:solidFill>
                <a:latin typeface="Calibri"/>
              </a:rPr>
              <a:t>SECTION A · PROBLEM &amp;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B2233"/>
                </a:solidFill>
                <a:latin typeface="Calibri"/>
              </a:rPr>
              <a:t>Strategic Alignment dengan PLN &amp; Tema IG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20116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267004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73152" cy="2194560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88366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B2233"/>
                </a:solidFill>
                <a:latin typeface="Calibri"/>
              </a:rPr>
              <a:t>⚡ PLN 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304288"/>
            <a:ext cx="2249424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00B4D8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Green: percepatan ekosistem EV &amp; EBT.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00B4D8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Innovative: model bisnis digital aset baru.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00B4D8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Lean: monetisasi aset tanpa tambah utang.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37360"/>
            <a:ext cx="267004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37560" y="1737360"/>
            <a:ext cx="73152" cy="2194560"/>
          </a:xfrm>
          <a:prstGeom prst="roundRect">
            <a:avLst>
              <a:gd name="adj" fmla="val 6000"/>
            </a:avLst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8728" y="188366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B2233"/>
                </a:solidFill>
                <a:latin typeface="Calibri"/>
              </a:rPr>
              <a:t>🌱 NZE 2060 &amp; RUPTL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2304288"/>
            <a:ext cx="2249424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2FA84F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Danai ekspansi SPKLU lebih cepat.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2FA84F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Dorong adopsi EV → kurangi emisi sektor transport.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737360"/>
            <a:ext cx="267004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1737360"/>
            <a:ext cx="73152" cy="219456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88366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B2233"/>
                </a:solidFill>
                <a:latin typeface="Calibri"/>
              </a:rPr>
              <a:t>🎯 Tema IG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304288"/>
            <a:ext cx="2249424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B5CF6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Next-Gen Business Development.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B5CF6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Menciptakan revenue stream &amp; kelas aset baru dari aset eksisting.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737360"/>
            <a:ext cx="267004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06840" y="1737360"/>
            <a:ext cx="73152" cy="2194560"/>
          </a:xfrm>
          <a:prstGeom prst="roundRect">
            <a:avLst>
              <a:gd name="adj" fmla="val 6000"/>
            </a:avLst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8008" y="1883664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B2233"/>
                </a:solidFill>
                <a:latin typeface="Calibri"/>
              </a:rPr>
              <a:t>🇮🇩 Agenda Nasional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2304288"/>
            <a:ext cx="2249424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E0A82E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Asta Cita: hilirisasi &amp; transisi energi.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E0A82E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Inklusi keuangan: ritel ikut memiliki infrastruktur strategis.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160520"/>
            <a:ext cx="11183112" cy="1234440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976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D3F3"/>
                </a:solidFill>
                <a:latin typeface="Calibri"/>
              </a:rPr>
              <a:t>Titik Alignment Konkret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64515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1AD3F3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Memanfaatkan aset &amp; data PLN eksisting → ROI strategis tinggi tanpa CAPEX besar tambahan.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1AD3F3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Menempatkan PLN sebagai pionir tokenisasi aset infrastruktur energi pertama di Indonesia.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B4D8"/>
                </a:solidFill>
                <a:latin typeface="Calibri"/>
              </a:rPr>
              <a:t>● </a:t>
            </a:r>
            <a:r>
              <a:rPr sz="900" b="1">
                <a:solidFill>
                  <a:srgbClr val="0B2233"/>
                </a:solidFill>
                <a:latin typeface="Calibri"/>
              </a:rPr>
              <a:t>ChargeChain</a:t>
            </a:r>
            <a:r>
              <a:rPr sz="900" b="0">
                <a:solidFill>
                  <a:srgbClr val="5B6B79"/>
                </a:solidFill>
                <a:latin typeface="Calibri"/>
              </a:rPr>
              <a:t>  ·  Innovation Gateway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0015" y="64465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4 / 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121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www.pln.co.id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4498848" cy="292608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44988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D3F3"/>
                </a:solidFill>
                <a:latin typeface="Calibri"/>
              </a:rPr>
              <a:t>SECTION A · PROBLEM &amp;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B2233"/>
                </a:solidFill>
                <a:latin typeface="Calibri"/>
              </a:rPr>
              <a:t>Why Now — Timing &amp; Urgensi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B79"/>
                </a:solidFill>
                <a:latin typeface="Calibri"/>
              </a:rPr>
              <a:t>Trend → Trigger → Window → Cost of Delay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0116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30552"/>
            <a:ext cx="2615184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30552"/>
            <a:ext cx="2615184" cy="457200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2185416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📈 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660904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B4D8"/>
                </a:solidFill>
                <a:latin typeface="Calibri"/>
              </a:rPr>
              <a:t>Konteks makro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971800"/>
            <a:ext cx="232257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00B4D8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Adopsi EV Indonesia naik tajam; volume pengisian tumbuh.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00B4D8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Pasar aset digital matang &amp; teregulasi.</a:t>
            </a:r>
          </a:p>
        </p:txBody>
      </p:sp>
      <p:sp>
        <p:nvSpPr>
          <p:cNvPr id="13" name="Chevron 12"/>
          <p:cNvSpPr/>
          <p:nvPr/>
        </p:nvSpPr>
        <p:spPr>
          <a:xfrm>
            <a:off x="3099816" y="3209544"/>
            <a:ext cx="237744" cy="237744"/>
          </a:xfrm>
          <a:prstGeom prst="chevron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82696" y="2130552"/>
            <a:ext cx="2615184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82696" y="2130552"/>
            <a:ext cx="2615184" cy="457200"/>
          </a:xfrm>
          <a:prstGeom prst="roundRect">
            <a:avLst>
              <a:gd name="adj" fmla="val 6000"/>
            </a:avLst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2185416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🔔 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660904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FA84F"/>
                </a:solidFill>
                <a:latin typeface="Calibri"/>
              </a:rPr>
              <a:t>Pemicu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971800"/>
            <a:ext cx="232257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2FA84F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UU P2SK 2023: pengaturan aset keuangan digital pindah ke OJK.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2FA84F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SPKLU PLN kini punya data transaksi riil yang dapat diaudit.</a:t>
            </a:r>
          </a:p>
        </p:txBody>
      </p:sp>
      <p:sp>
        <p:nvSpPr>
          <p:cNvPr id="19" name="Chevron 18"/>
          <p:cNvSpPr/>
          <p:nvPr/>
        </p:nvSpPr>
        <p:spPr>
          <a:xfrm>
            <a:off x="5879592" y="3209544"/>
            <a:ext cx="237744" cy="237744"/>
          </a:xfrm>
          <a:prstGeom prst="chevron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62472" y="2130552"/>
            <a:ext cx="2615184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62472" y="2130552"/>
            <a:ext cx="2615184" cy="45720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0488" y="2185416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🪟 WINDOW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6" y="2660904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B5CF6"/>
                </a:solidFill>
                <a:latin typeface="Calibri"/>
              </a:rPr>
              <a:t>Jendela peluang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8776" y="2971800"/>
            <a:ext cx="232257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8B5CF6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Regulasi + teknologi + aset operasional siap bersamaan.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8B5CF6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Momentum first-mover sebelum swasta masuk.</a:t>
            </a:r>
          </a:p>
        </p:txBody>
      </p:sp>
      <p:sp>
        <p:nvSpPr>
          <p:cNvPr id="25" name="Chevron 24"/>
          <p:cNvSpPr/>
          <p:nvPr/>
        </p:nvSpPr>
        <p:spPr>
          <a:xfrm>
            <a:off x="8659368" y="3209544"/>
            <a:ext cx="237744" cy="237744"/>
          </a:xfrm>
          <a:prstGeom prst="chevron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42248" y="2130552"/>
            <a:ext cx="2615184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42248" y="2130552"/>
            <a:ext cx="2615184" cy="457200"/>
          </a:xfrm>
          <a:prstGeom prst="roundRect">
            <a:avLst>
              <a:gd name="adj" fmla="val 6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70264" y="2185416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⏳ COST OF DELAY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88552" y="2660904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5484D"/>
                </a:solidFill>
                <a:latin typeface="Calibri"/>
              </a:rPr>
              <a:t>Biaya menunda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88552" y="2971800"/>
            <a:ext cx="232257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E5484D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Modal terus idle; ekspansi tertunda.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E5484D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Risiko kehilangan posisi pionir &amp; narasi ESG.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87375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B2233"/>
                </a:solidFill>
                <a:latin typeface="Calibri"/>
              </a:rPr>
              <a:t>Kesimpulan: </a:t>
            </a:r>
            <a:r>
              <a:rPr sz="1250" b="0">
                <a:solidFill>
                  <a:srgbClr val="162430"/>
                </a:solidFill>
                <a:latin typeface="Calibri"/>
              </a:rPr>
              <a:t>Konvergensi regulasi, kematangan teknologi, dan ketersediaan aset operasional menjadikan 2026 sebagai momentum tepat — menunda berarti membayar biaya peluang yang nyata.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B4D8"/>
                </a:solidFill>
                <a:latin typeface="Calibri"/>
              </a:rPr>
              <a:t>● </a:t>
            </a:r>
            <a:r>
              <a:rPr sz="900" b="1">
                <a:solidFill>
                  <a:srgbClr val="0B2233"/>
                </a:solidFill>
                <a:latin typeface="Calibri"/>
              </a:rPr>
              <a:t>ChargeChain</a:t>
            </a:r>
            <a:r>
              <a:rPr sz="900" b="0">
                <a:solidFill>
                  <a:srgbClr val="5B6B79"/>
                </a:solidFill>
                <a:latin typeface="Calibri"/>
              </a:rPr>
              <a:t>  ·  Innovation Gateway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80015" y="64465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5 / 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121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www.pln.co.id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2834640" cy="292608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2834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D3F3"/>
                </a:solidFill>
                <a:latin typeface="Calibri"/>
              </a:rPr>
              <a:t>SECTION B ·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B2233"/>
                </a:solidFill>
                <a:latin typeface="Calibri"/>
              </a:rPr>
              <a:t>Proposed Solution &amp; Value Proposition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B79"/>
                </a:solidFill>
                <a:latin typeface="Calibri"/>
              </a:rPr>
              <a:t>Existing → Limitations → Proposed → Unique Value Proposition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0116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084832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CEEEE"/>
          </a:solidFill>
          <a:ln w="1270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76272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5484D"/>
                </a:solidFill>
                <a:latin typeface="Calibri"/>
              </a:rPr>
              <a:t>❌ EXISTING — Pendanaan konvensional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96312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E5484D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Utang / penyertaan modal → menambah DER &amp; beban bunga.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E5484D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Crowdfunding proyek baru → galang dana aset yang belum ada (berisiko).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364992"/>
            <a:ext cx="5440680" cy="1143000"/>
          </a:xfrm>
          <a:prstGeom prst="roundRect">
            <a:avLst>
              <a:gd name="adj" fmla="val 6000"/>
            </a:avLst>
          </a:prstGeom>
          <a:solidFill>
            <a:srgbClr val="FDF6E9"/>
          </a:solidFill>
          <a:ln w="1270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456432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0A82E"/>
                </a:solidFill>
                <a:latin typeface="Calibri"/>
              </a:rPr>
              <a:t>⚠️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76472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E0A82E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Likuiditas rendah, dana terkunci, valuasi berbasis proyeksi.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E0A82E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Publik tidak punya akses ikut memiliki aset infrastruktur.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645152"/>
            <a:ext cx="5440680" cy="1325880"/>
          </a:xfrm>
          <a:prstGeom prst="roundRect">
            <a:avLst>
              <a:gd name="adj" fmla="val 6000"/>
            </a:avLst>
          </a:prstGeom>
          <a:solidFill>
            <a:srgbClr val="E9F6FA"/>
          </a:solidFill>
          <a:ln w="1524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736592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0B4D8"/>
                </a:solidFill>
                <a:latin typeface="Calibri"/>
              </a:rPr>
              <a:t>✅ PROPOSED — ChargeChain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56632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00B4D8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Token bagi-hasil (SRT) beragun SPKLU yang SUDAH beroperasi.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00B4D8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Smart contract + oracle meter → revenue tercatat &amp; dibagi otomatis.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00B4D8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Bursa sekunder: jual-beli token kapan saja (likuid).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084832"/>
            <a:ext cx="5513832" cy="3886200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49651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AD3F3"/>
                </a:solidFill>
                <a:latin typeface="Calibri"/>
              </a:rPr>
              <a:t>⭐ Unique Value Proposition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816352"/>
            <a:ext cx="109728" cy="457200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816352"/>
            <a:ext cx="4736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Asset-backed  </a:t>
            </a:r>
            <a:r>
              <a:rPr sz="1100" b="0">
                <a:solidFill>
                  <a:srgbClr val="BED2DE"/>
                </a:solidFill>
                <a:latin typeface="Calibri"/>
              </a:rPr>
              <a:t>setiap token dijamin SPKLU operasional, bukan janji.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419856"/>
            <a:ext cx="109728" cy="457200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419856"/>
            <a:ext cx="4736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Yield dari arus kas riil  </a:t>
            </a:r>
            <a:r>
              <a:rPr sz="1100" b="0">
                <a:solidFill>
                  <a:srgbClr val="BED2DE"/>
                </a:solidFill>
                <a:latin typeface="Calibri"/>
              </a:rPr>
              <a:t>±13% dari pendapatan pengisian aktual.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4023360"/>
            <a:ext cx="109728" cy="457200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023360"/>
            <a:ext cx="4736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Likuid  </a:t>
            </a:r>
            <a:r>
              <a:rPr sz="1100" b="0">
                <a:solidFill>
                  <a:srgbClr val="BED2DE"/>
                </a:solidFill>
                <a:latin typeface="Calibri"/>
              </a:rPr>
              <a:t>diperdagangkan 24/7 di bursa sekunder.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4626864"/>
            <a:ext cx="109728" cy="457200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626864"/>
            <a:ext cx="4736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PLN tetap berkuasa  </a:t>
            </a:r>
            <a:r>
              <a:rPr sz="1100" b="0">
                <a:solidFill>
                  <a:srgbClr val="BED2DE"/>
                </a:solidFill>
                <a:latin typeface="Calibri"/>
              </a:rPr>
              <a:t>pemilik &amp; operator 100%, hanya jual slice arus kas.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5230368"/>
            <a:ext cx="109728" cy="457200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5230368"/>
            <a:ext cx="4736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Inklusif &amp; transparan  </a:t>
            </a:r>
            <a:r>
              <a:rPr sz="1100" b="0">
                <a:solidFill>
                  <a:srgbClr val="BED2DE"/>
                </a:solidFill>
                <a:latin typeface="Calibri"/>
              </a:rPr>
              <a:t>ritel ikut memiliki; data on-chain auditable.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B4D8"/>
                </a:solidFill>
                <a:latin typeface="Calibri"/>
              </a:rPr>
              <a:t>● </a:t>
            </a:r>
            <a:r>
              <a:rPr sz="900" b="1">
                <a:solidFill>
                  <a:srgbClr val="0B2233"/>
                </a:solidFill>
                <a:latin typeface="Calibri"/>
              </a:rPr>
              <a:t>ChargeChain</a:t>
            </a:r>
            <a:r>
              <a:rPr sz="900" b="0">
                <a:solidFill>
                  <a:srgbClr val="5B6B79"/>
                </a:solidFill>
                <a:latin typeface="Calibri"/>
              </a:rPr>
              <a:t>  ·  Innovation Gateway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015" y="64465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6 / 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121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www.pln.co.id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2834640" cy="292608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2834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D3F3"/>
                </a:solidFill>
                <a:latin typeface="Calibri"/>
              </a:rPr>
              <a:t>SECTION B ·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B2233"/>
                </a:solidFill>
                <a:latin typeface="Calibri"/>
              </a:rPr>
              <a:t>How It Works — Alur Bisnis &amp; Customer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20116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17007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1700784" cy="64008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83664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62430"/>
                </a:solidFill>
                <a:latin typeface="Calibri"/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40864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2233"/>
                </a:solidFill>
                <a:latin typeface="Calibri"/>
              </a:rPr>
              <a:t>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15184"/>
            <a:ext cx="15179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329 SPKLU beroperasi (PLN)</a:t>
            </a:r>
          </a:p>
        </p:txBody>
      </p:sp>
      <p:sp>
        <p:nvSpPr>
          <p:cNvPr id="12" name="Chevron 11"/>
          <p:cNvSpPr/>
          <p:nvPr/>
        </p:nvSpPr>
        <p:spPr>
          <a:xfrm>
            <a:off x="2167128" y="2286000"/>
            <a:ext cx="201168" cy="201168"/>
          </a:xfrm>
          <a:prstGeom prst="chevron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50008" y="1737360"/>
            <a:ext cx="17007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350008" y="1737360"/>
            <a:ext cx="1700784" cy="64008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0008" y="1883664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62430"/>
                </a:solidFill>
                <a:latin typeface="Calibri"/>
              </a:rPr>
              <a:t>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0008" y="2340864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2233"/>
                </a:solidFill>
                <a:latin typeface="Calibri"/>
              </a:rPr>
              <a:t>Oracle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1448" y="2615184"/>
            <a:ext cx="15179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tiap kWh tercatat on-chain</a:t>
            </a:r>
          </a:p>
        </p:txBody>
      </p:sp>
      <p:sp>
        <p:nvSpPr>
          <p:cNvPr id="18" name="Chevron 17"/>
          <p:cNvSpPr/>
          <p:nvPr/>
        </p:nvSpPr>
        <p:spPr>
          <a:xfrm>
            <a:off x="4014216" y="2286000"/>
            <a:ext cx="201168" cy="201168"/>
          </a:xfrm>
          <a:prstGeom prst="chevron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97096" y="1737360"/>
            <a:ext cx="17007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97096" y="1737360"/>
            <a:ext cx="1700784" cy="64008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97096" y="1883664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62430"/>
                </a:solidFill>
                <a:latin typeface="Calibri"/>
              </a:rPr>
              <a:t>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97096" y="2340864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2233"/>
                </a:solidFill>
                <a:latin typeface="Calibri"/>
              </a:rPr>
              <a:t>Mint SRT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8536" y="2615184"/>
            <a:ext cx="15179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Fair Value ÷ par = supply</a:t>
            </a:r>
          </a:p>
        </p:txBody>
      </p:sp>
      <p:sp>
        <p:nvSpPr>
          <p:cNvPr id="24" name="Chevron 23"/>
          <p:cNvSpPr/>
          <p:nvPr/>
        </p:nvSpPr>
        <p:spPr>
          <a:xfrm>
            <a:off x="5861304" y="2286000"/>
            <a:ext cx="201168" cy="201168"/>
          </a:xfrm>
          <a:prstGeom prst="chevron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44184" y="1737360"/>
            <a:ext cx="17007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44184" y="1737360"/>
            <a:ext cx="1700784" cy="64008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44184" y="1883664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62430"/>
                </a:solidFill>
                <a:latin typeface="Calibri"/>
              </a:rPr>
              <a:t>🏛️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44184" y="2340864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2233"/>
                </a:solidFill>
                <a:latin typeface="Calibri"/>
              </a:rPr>
              <a:t>Listing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35624" y="2615184"/>
            <a:ext cx="15179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float 40% ke bursa</a:t>
            </a:r>
          </a:p>
        </p:txBody>
      </p:sp>
      <p:sp>
        <p:nvSpPr>
          <p:cNvPr id="30" name="Chevron 29"/>
          <p:cNvSpPr/>
          <p:nvPr/>
        </p:nvSpPr>
        <p:spPr>
          <a:xfrm>
            <a:off x="7708392" y="2286000"/>
            <a:ext cx="201168" cy="201168"/>
          </a:xfrm>
          <a:prstGeom prst="chevron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891272" y="1737360"/>
            <a:ext cx="17007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891272" y="1737360"/>
            <a:ext cx="1700784" cy="64008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91272" y="1883664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62430"/>
                </a:solidFill>
                <a:latin typeface="Calibri"/>
              </a:rPr>
              <a:t>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1272" y="2340864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2233"/>
                </a:solidFill>
                <a:latin typeface="Calibri"/>
              </a:rPr>
              <a:t>Trading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82712" y="2615184"/>
            <a:ext cx="15179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investor jual-beli token</a:t>
            </a:r>
          </a:p>
        </p:txBody>
      </p:sp>
      <p:sp>
        <p:nvSpPr>
          <p:cNvPr id="36" name="Chevron 35"/>
          <p:cNvSpPr/>
          <p:nvPr/>
        </p:nvSpPr>
        <p:spPr>
          <a:xfrm>
            <a:off x="9555480" y="2286000"/>
            <a:ext cx="201168" cy="201168"/>
          </a:xfrm>
          <a:prstGeom prst="chevron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38360" y="1737360"/>
            <a:ext cx="17007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738360" y="1737360"/>
            <a:ext cx="1700784" cy="64008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38360" y="1883664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162430"/>
                </a:solidFill>
                <a:latin typeface="Calibri"/>
              </a:rPr>
              <a:t>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38360" y="2340864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2233"/>
                </a:solidFill>
                <a:latin typeface="Calibri"/>
              </a:rPr>
              <a:t>Yield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9800" y="2615184"/>
            <a:ext cx="15179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coupon dibagi bulanan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32461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2233"/>
                </a:solidFill>
                <a:latin typeface="Calibri"/>
              </a:rPr>
              <a:t>Customer Journey — Investor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3566160"/>
            <a:ext cx="2157984" cy="91440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" y="3675888"/>
            <a:ext cx="1901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1 · Onboard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" y="3950208"/>
            <a:ext cx="19019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62430"/>
                </a:solidFill>
                <a:latin typeface="Calibri"/>
              </a:rPr>
              <a:t>Daftar via PLN Mobile / dApp, KYC singkat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24911" y="3566160"/>
            <a:ext cx="2157984" cy="91440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52927" y="3675888"/>
            <a:ext cx="1901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2 · Pilih aset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52927" y="3950208"/>
            <a:ext cx="19019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62430"/>
                </a:solidFill>
                <a:latin typeface="Calibri"/>
              </a:rPr>
              <a:t>Lihat SPKLU + yield &amp; kinerja riil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46903" y="3566160"/>
            <a:ext cx="2157984" cy="91440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74919" y="3675888"/>
            <a:ext cx="1901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3 · Beli token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74919" y="3950208"/>
            <a:ext cx="19019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62430"/>
                </a:solidFill>
                <a:latin typeface="Calibri"/>
              </a:rPr>
              <a:t>Order di bursa, settle on-chain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168895" y="3566160"/>
            <a:ext cx="2157984" cy="91440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96911" y="3675888"/>
            <a:ext cx="1901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4 · Terima dividen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96911" y="3950208"/>
            <a:ext cx="19019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62430"/>
                </a:solidFill>
                <a:latin typeface="Calibri"/>
              </a:rPr>
              <a:t>Coupon masuk otomatis tiap bulan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390888" y="3566160"/>
            <a:ext cx="2157984" cy="91440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18904" y="3675888"/>
            <a:ext cx="1901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5 · Trading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18904" y="3950208"/>
            <a:ext cx="190195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62430"/>
                </a:solidFill>
                <a:latin typeface="Calibri"/>
              </a:rPr>
              <a:t>Jual/tahan/tambah kapan saja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4663440"/>
            <a:ext cx="11183112" cy="749808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4773168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AD3F3"/>
                </a:solidFill>
                <a:latin typeface="Calibri"/>
              </a:rPr>
              <a:t>Komponen inti:  </a:t>
            </a:r>
            <a:r>
              <a:rPr sz="1100" b="0">
                <a:solidFill>
                  <a:srgbClr val="FFFFFF"/>
                </a:solidFill>
                <a:latin typeface="Calibri"/>
              </a:rPr>
              <a:t>Oracle Meter (catat kWh) → Smart Contract SRT (mint, accrue, distribute) → DEX/Bursa (price discovery &amp; settlement) → Custody &amp; Compliance layer (KYC/AML, wali amanat).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B4D8"/>
                </a:solidFill>
                <a:latin typeface="Calibri"/>
              </a:rPr>
              <a:t>● </a:t>
            </a:r>
            <a:r>
              <a:rPr sz="900" b="1">
                <a:solidFill>
                  <a:srgbClr val="0B2233"/>
                </a:solidFill>
                <a:latin typeface="Calibri"/>
              </a:rPr>
              <a:t>ChargeChain</a:t>
            </a:r>
            <a:r>
              <a:rPr sz="900" b="0">
                <a:solidFill>
                  <a:srgbClr val="5B6B79"/>
                </a:solidFill>
                <a:latin typeface="Calibri"/>
              </a:rPr>
              <a:t>  ·  Innovation Gateway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80015" y="64465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7 / 21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5121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www.pln.co.id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2834640" cy="292608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2834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D3F3"/>
                </a:solidFill>
                <a:latin typeface="Calibri"/>
              </a:rPr>
              <a:t>SECTION B ·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B2233"/>
                </a:solidFill>
                <a:latin typeface="Calibri"/>
              </a:rPr>
              <a:t>Customer Validation &amp; 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B79"/>
                </a:solidFill>
                <a:latin typeface="Calibri"/>
              </a:rPr>
              <a:t>Hipotesis → Metode → Hasil → Insight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0116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039112"/>
            <a:ext cx="2670048" cy="114300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039112"/>
            <a:ext cx="2670048" cy="64008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185416"/>
            <a:ext cx="23408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00B4D8"/>
                </a:solidFill>
                <a:latin typeface="Calibri"/>
              </a:rPr>
              <a:t>101.020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97480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B2233"/>
                </a:solidFill>
                <a:latin typeface="Calibri"/>
              </a:rPr>
              <a:t>TRANSAKSI TERVALIDASI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9"/>
                </a:solidFill>
                <a:latin typeface="Calibri"/>
              </a:rPr>
              <a:t>Maret 2026, aktual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2039112"/>
            <a:ext cx="2670048" cy="114300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10128" y="2039112"/>
            <a:ext cx="2670048" cy="64008"/>
          </a:xfrm>
          <a:prstGeom prst="roundRect">
            <a:avLst>
              <a:gd name="adj" fmla="val 6000"/>
            </a:avLst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185416"/>
            <a:ext cx="23408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2FA84F"/>
                </a:solidFill>
                <a:latin typeface="Calibri"/>
              </a:rPr>
              <a:t>2,26 GWh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B2233"/>
                </a:solidFill>
                <a:latin typeface="Calibri"/>
              </a:rPr>
              <a:t>ENERGI TERSALUR/BLN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9"/>
                </a:solidFill>
                <a:latin typeface="Calibri"/>
              </a:rPr>
              <a:t>permintaan nyata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17336" y="2039112"/>
            <a:ext cx="2670048" cy="114300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17336" y="2039112"/>
            <a:ext cx="2670048" cy="64008"/>
          </a:xfrm>
          <a:prstGeom prst="roundRect">
            <a:avLst>
              <a:gd name="adj" fmla="val 6000"/>
            </a:avLst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2185416"/>
            <a:ext cx="23408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0A82E"/>
                </a:solidFill>
                <a:latin typeface="Calibri"/>
              </a:rPr>
              <a:t>Rp 70,7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2697480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B2233"/>
                </a:solidFill>
                <a:latin typeface="Calibri"/>
              </a:rPr>
              <a:t>ARUS KAS TAHUNAN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9"/>
                </a:solidFill>
                <a:latin typeface="Calibri"/>
              </a:rPr>
              <a:t>bukti monetisasi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24544" y="2039112"/>
            <a:ext cx="2761488" cy="114300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24544" y="2039112"/>
            <a:ext cx="2761488" cy="6400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9136" y="2185416"/>
            <a:ext cx="243230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8B5CF6"/>
                </a:solidFill>
                <a:latin typeface="Calibri"/>
              </a:rPr>
              <a:t>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697480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B2233"/>
                </a:solidFill>
                <a:latin typeface="Calibri"/>
              </a:rPr>
              <a:t>PROTOTYPE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9136" y="2916936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9"/>
                </a:solidFill>
                <a:latin typeface="Calibri"/>
              </a:rPr>
              <a:t>sudah dapat diakses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364992"/>
            <a:ext cx="54589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3364992"/>
            <a:ext cx="73152" cy="1371600"/>
          </a:xfrm>
          <a:prstGeom prst="roundRect">
            <a:avLst>
              <a:gd name="adj" fmla="val 6000"/>
            </a:avLst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3511296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2233"/>
                </a:solidFill>
                <a:latin typeface="Calibri"/>
              </a:rPr>
              <a:t>✅ Problem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3931920"/>
            <a:ext cx="5038344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2FA84F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Demand pengisian EV terbukti: 329 SPKLU aktif &amp; ramai (okupansi tinggi di lokasi premium).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2FA84F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CAPEX &amp; arus kas terdokumentasi → aset layak ditokenisasi.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9048" y="3364992"/>
            <a:ext cx="53583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099048" y="3364992"/>
            <a:ext cx="73152" cy="1371600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0216" y="3511296"/>
            <a:ext cx="49743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2233"/>
                </a:solidFill>
                <a:latin typeface="Calibri"/>
              </a:rPr>
              <a:t>🔬 Solution 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18504" y="393192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00B4D8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Model valuasi diuji pada data riil → yield 13% konsisten &amp; dapat diaudit.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00B4D8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Prototype interaktif (dashboard, bursa, kalkulator) sudah berjalan.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873752"/>
            <a:ext cx="11183112" cy="1234440"/>
          </a:xfrm>
          <a:prstGeom prst="roundRect">
            <a:avLst>
              <a:gd name="adj" fmla="val 6000"/>
            </a:avLst>
          </a:prstGeom>
          <a:solidFill>
            <a:srgbClr val="E9F6FA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974336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2233"/>
                </a:solidFill>
                <a:latin typeface="Calibri"/>
              </a:rPr>
              <a:t>💡 Insight Kunci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3035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 </a:t>
            </a:r>
            <a:r>
              <a:rPr sz="1100">
                <a:solidFill>
                  <a:srgbClr val="162430"/>
                </a:solidFill>
                <a:latin typeface="Calibri"/>
              </a:rPr>
              <a:t>Berbeda dari startup biasa, traction sudah ada DULU — aset menghasilkan sebelum token diterbitkan (de-risked).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 </a:t>
            </a:r>
            <a:r>
              <a:rPr sz="1100">
                <a:solidFill>
                  <a:srgbClr val="162430"/>
                </a:solidFill>
                <a:latin typeface="Calibri"/>
              </a:rPr>
              <a:t>Langkah berikutnya: LOI dengan unit PLN &amp; uji minat investor ritel via PLN Mobile (target pilot Q3-Q4 2026).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B4D8"/>
                </a:solidFill>
                <a:latin typeface="Calibri"/>
              </a:rPr>
              <a:t>● </a:t>
            </a:r>
            <a:r>
              <a:rPr sz="900" b="1">
                <a:solidFill>
                  <a:srgbClr val="0B2233"/>
                </a:solidFill>
                <a:latin typeface="Calibri"/>
              </a:rPr>
              <a:t>ChargeChain</a:t>
            </a:r>
            <a:r>
              <a:rPr sz="900" b="0">
                <a:solidFill>
                  <a:srgbClr val="5B6B79"/>
                </a:solidFill>
                <a:latin typeface="Calibri"/>
              </a:rPr>
              <a:t>  ·  Innovation Gateway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0015" y="64465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8 / 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121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www.pln.co.id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4370832" cy="292608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43708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D3F3"/>
                </a:solidFill>
                <a:latin typeface="Calibri"/>
              </a:rPr>
              <a:t>SECTION C · MARKET &amp;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B2233"/>
                </a:solidFill>
                <a:latin typeface="Calibri"/>
              </a:rPr>
              <a:t>Target Market &amp; Customer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B79"/>
                </a:solidFill>
                <a:latin typeface="Calibri"/>
              </a:rPr>
              <a:t>Segment → Persona → Pain Point → Solution Fit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0116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084832"/>
            <a:ext cx="267004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084832"/>
            <a:ext cx="2670048" cy="73152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226771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B2233"/>
                </a:solidFill>
                <a:latin typeface="Calibri"/>
              </a:rPr>
              <a:t>👤 Ritel / PLN Mobile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" y="2651760"/>
            <a:ext cx="1042416" cy="292608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2642616"/>
            <a:ext cx="10424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PRIMER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3090672"/>
            <a:ext cx="2377440" cy="1920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00B4D8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Profil: pengguna PLN Mobile, melek digital, dana terbatas.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00B4D8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Pain: sulit akses investasi infrastruktur, butuh yield.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00B4D8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Fit: tiket Rp 100rb, yield 13%, likuid.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084832"/>
            <a:ext cx="267004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7560" y="2084832"/>
            <a:ext cx="2670048" cy="73152"/>
          </a:xfrm>
          <a:prstGeom prst="roundRect">
            <a:avLst>
              <a:gd name="adj" fmla="val 6000"/>
            </a:avLst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3864" y="226771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B2233"/>
                </a:solidFill>
                <a:latin typeface="Calibri"/>
              </a:rPr>
              <a:t>🏦 Institusi &amp; ESG Fund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83864" y="2651760"/>
            <a:ext cx="1042416" cy="292608"/>
          </a:xfrm>
          <a:prstGeom prst="roundRect">
            <a:avLst>
              <a:gd name="adj" fmla="val 6000"/>
            </a:avLst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83864" y="2642616"/>
            <a:ext cx="10424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PRIMER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3864" y="3090672"/>
            <a:ext cx="2377440" cy="1920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2FA84F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Profil: manajer investasi, dana hijau, asuransi.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2FA84F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Pain: butuh aset hijau ber-yield &amp; terukur.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2FA84F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Fit: kelas aset baru, data ESG auditable.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084832"/>
            <a:ext cx="267004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2200" y="2084832"/>
            <a:ext cx="2670048" cy="73152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226771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B2233"/>
                </a:solidFill>
                <a:latin typeface="Calibri"/>
              </a:rPr>
              <a:t>🔌 Komunitas EV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18504" y="2651760"/>
            <a:ext cx="1298448" cy="29260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18504" y="2642616"/>
            <a:ext cx="12984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SEKUNDER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3090672"/>
            <a:ext cx="2377440" cy="1920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8B5CF6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Profil: pemilik &amp; komunitas kendaraan listrik.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8B5CF6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Pain: ingin dukung &amp; ikut tumbuh dgn ekosistem.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8B5CF6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Fit: co-ownership SPKLU yang mereka pakai.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2084832"/>
            <a:ext cx="267004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06840" y="2084832"/>
            <a:ext cx="2670048" cy="73152"/>
          </a:xfrm>
          <a:prstGeom prst="roundRect">
            <a:avLst>
              <a:gd name="adj" fmla="val 6000"/>
            </a:avLst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3144" y="226771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B2233"/>
                </a:solidFill>
                <a:latin typeface="Calibri"/>
              </a:rPr>
              <a:t>🏛️ Pemda / BUMD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53144" y="2651760"/>
            <a:ext cx="1298448" cy="292608"/>
          </a:xfrm>
          <a:prstGeom prst="roundRect">
            <a:avLst>
              <a:gd name="adj" fmla="val 6000"/>
            </a:avLst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53144" y="2642616"/>
            <a:ext cx="12984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SEKUNDER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3144" y="3090672"/>
            <a:ext cx="2377440" cy="1920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E0A82E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Profil: pemerintah daerah, BUMD energi.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E0A82E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Pain: ingin investasi infrastruktur daerah.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000" b="1">
                <a:solidFill>
                  <a:srgbClr val="E0A82E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Fit: co-invest SPKLU regional + PAD.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2852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2233"/>
                </a:solidFill>
                <a:latin typeface="Calibri"/>
              </a:rPr>
              <a:t>Prioritisasi: </a:t>
            </a:r>
            <a:r>
              <a:rPr sz="1200" b="0">
                <a:solidFill>
                  <a:srgbClr val="162430"/>
                </a:solidFill>
                <a:latin typeface="Calibri"/>
              </a:rPr>
              <a:t>Fokus Y1 pada ritel PLN Mobile (basis 50+ juta pengguna) + 1-2 anchor institusi sebagai validasi &amp; likuiditas awal.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B4D8"/>
                </a:solidFill>
                <a:latin typeface="Calibri"/>
              </a:rPr>
              <a:t>● </a:t>
            </a:r>
            <a:r>
              <a:rPr sz="900" b="1">
                <a:solidFill>
                  <a:srgbClr val="0B2233"/>
                </a:solidFill>
                <a:latin typeface="Calibri"/>
              </a:rPr>
              <a:t>ChargeChain</a:t>
            </a:r>
            <a:r>
              <a:rPr sz="900" b="0">
                <a:solidFill>
                  <a:srgbClr val="5B6B79"/>
                </a:solidFill>
                <a:latin typeface="Calibri"/>
              </a:rPr>
              <a:t>  ·  Innovation Gateway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0015" y="64465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9 / 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121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www.pln.co.id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4370832" cy="292608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43708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D3F3"/>
                </a:solidFill>
                <a:latin typeface="Calibri"/>
              </a:rPr>
              <a:t>SECTION C · MARKET &amp;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B2233"/>
                </a:solidFill>
                <a:latin typeface="Calibri"/>
              </a:rPr>
              <a:t>Market Size — TAM / SAM / SOM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B79"/>
                </a:solidFill>
                <a:latin typeface="Calibri"/>
              </a:rPr>
              <a:t>Kapitalisasi token yang dapat ditokenisasi (skala logaritmik)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0116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30552"/>
            <a:ext cx="5394960" cy="822960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85416"/>
            <a:ext cx="5029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TAM  </a:t>
            </a:r>
            <a:r>
              <a:rPr sz="1700" b="1">
                <a:solidFill>
                  <a:srgbClr val="0B2233"/>
                </a:solidFill>
                <a:latin typeface="Calibri"/>
              </a:rPr>
              <a:t>Rp 12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060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B2233"/>
                </a:solidFill>
                <a:latin typeface="Calibri"/>
              </a:rPr>
              <a:t>Seluruh charging point publik Indonesia (PLN+swasta), 2030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063240"/>
            <a:ext cx="4023360" cy="822960"/>
          </a:xfrm>
          <a:prstGeom prst="roundRect">
            <a:avLst>
              <a:gd name="adj" fmla="val 6000"/>
            </a:avLst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118104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SAM  </a:t>
            </a:r>
            <a:r>
              <a:rPr sz="1700" b="1">
                <a:solidFill>
                  <a:srgbClr val="0B2233"/>
                </a:solidFill>
                <a:latin typeface="Calibri"/>
              </a:rPr>
              <a:t>Rp 532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53872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B2233"/>
                </a:solidFill>
                <a:latin typeface="Calibri"/>
              </a:rPr>
              <a:t>Jaringan SPKLU PLN nasional (±3.000 unit)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20" y="3995928"/>
            <a:ext cx="2651760" cy="822960"/>
          </a:xfrm>
          <a:prstGeom prst="roundRect">
            <a:avLst>
              <a:gd name="adj" fmla="val 6000"/>
            </a:avLst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4050791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SOM  </a:t>
            </a:r>
            <a:r>
              <a:rPr sz="1700" b="1">
                <a:solidFill>
                  <a:srgbClr val="0B2233"/>
                </a:solidFill>
                <a:latin typeface="Calibri"/>
              </a:rPr>
              <a:t>Rp 83,4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471416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B2233"/>
                </a:solidFill>
                <a:latin typeface="Calibri"/>
              </a:rPr>
              <a:t>329 SPKLU Jabar aktif — data riil (kini)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72200" y="2221992"/>
          <a:ext cx="5513831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008"/>
                <a:gridCol w="870605"/>
                <a:gridCol w="870605"/>
                <a:gridCol w="870605"/>
                <a:gridCol w="1451008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TAM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SAM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SOM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Sumber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2233"/>
                          </a:solidFill>
                          <a:latin typeface="Calibri"/>
                        </a:rPr>
                        <a:t>SPKLU PLN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6243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62430"/>
                          </a:solidFill>
                          <a:latin typeface="Calibri"/>
                        </a:rPr>
                        <a:t>Rp 532 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62430"/>
                          </a:solidFill>
                          <a:latin typeface="Calibri"/>
                        </a:rPr>
                        <a:t>Rp 83,4 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62430"/>
                          </a:solidFill>
                          <a:latin typeface="Calibri"/>
                        </a:rPr>
                        <a:t>Data transaksi PLN Mar-2026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2233"/>
                          </a:solidFill>
                          <a:latin typeface="Calibri"/>
                        </a:rPr>
                        <a:t>Charging swasta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62430"/>
                          </a:solidFill>
                          <a:latin typeface="Calibri"/>
                        </a:rPr>
                        <a:t>Rp 12 T*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6243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6243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62430"/>
                          </a:solidFill>
                          <a:latin typeface="Calibri"/>
                        </a:rPr>
                        <a:t>Proyeksi roadmap EV 2030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B2233"/>
                          </a:solidFill>
                          <a:latin typeface="Calibri"/>
                        </a:rPr>
                        <a:t>Asumsi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62430"/>
                          </a:solidFill>
                          <a:latin typeface="Calibri"/>
                        </a:rPr>
                        <a:t>30rb titik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62430"/>
                          </a:solidFill>
                          <a:latin typeface="Calibri"/>
                        </a:rPr>
                        <a:t>±3rb unit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62430"/>
                          </a:solidFill>
                          <a:latin typeface="Calibri"/>
                        </a:rPr>
                        <a:t>329 unit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>
                          <a:solidFill>
                            <a:srgbClr val="162430"/>
                          </a:solidFill>
                          <a:latin typeface="Calibri"/>
                        </a:rPr>
                        <a:t>Unit-economics Jabar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172200" y="4736592"/>
            <a:ext cx="5513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B2233"/>
                </a:solidFill>
                <a:latin typeface="Calibri"/>
              </a:rPr>
              <a:t>Metodologi: </a:t>
            </a:r>
            <a:r>
              <a:rPr sz="950" b="0">
                <a:solidFill>
                  <a:srgbClr val="5B6B79"/>
                </a:solidFill>
                <a:latin typeface="Calibri"/>
              </a:rPr>
              <a:t>SOM = aktual. SAM = ±3.000 SPKLU × Rp 253 jt/unit × 70% utilisasi. TAM = ±30.000 titik × Rp 400 jt/unit (2030). *estimasi top-down, asumsi dinyatakan eksplisit.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193792"/>
            <a:ext cx="11183112" cy="566928"/>
          </a:xfrm>
          <a:prstGeom prst="roundRect">
            <a:avLst>
              <a:gd name="adj" fmla="val 6000"/>
            </a:avLst>
          </a:prstGeom>
          <a:solidFill>
            <a:srgbClr val="E9F6FA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8523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2233"/>
                </a:solidFill>
                <a:latin typeface="Calibri"/>
              </a:rPr>
              <a:t>Realisme: </a:t>
            </a:r>
            <a:r>
              <a:rPr sz="1100" b="0">
                <a:solidFill>
                  <a:srgbClr val="162430"/>
                </a:solidFill>
                <a:latin typeface="Calibri"/>
              </a:rPr>
              <a:t>SOM 100% berbasis data riil — bukan klaim. Pertumbuhan SAM→TAM mengikuti ekspansi SPKLU PLN &amp; adopsi EV nasional.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B4D8"/>
                </a:solidFill>
                <a:latin typeface="Calibri"/>
              </a:rPr>
              <a:t>● </a:t>
            </a:r>
            <a:r>
              <a:rPr sz="900" b="1">
                <a:solidFill>
                  <a:srgbClr val="0B2233"/>
                </a:solidFill>
                <a:latin typeface="Calibri"/>
              </a:rPr>
              <a:t>ChargeChain</a:t>
            </a:r>
            <a:r>
              <a:rPr sz="900" b="0">
                <a:solidFill>
                  <a:srgbClr val="5B6B79"/>
                </a:solidFill>
                <a:latin typeface="Calibri"/>
              </a:rPr>
              <a:t>  ·  Innovation Gateway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4465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10 / 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121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www.pln.co.id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4370832" cy="292608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43708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D3F3"/>
                </a:solidFill>
                <a:latin typeface="Calibri"/>
              </a:rPr>
              <a:t>SECTION C · MARKET &amp;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B2233"/>
                </a:solidFill>
                <a:latin typeface="Calibri"/>
              </a:rPr>
              <a:t>Competitor Analysis &amp; Unfair Advantage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20116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8310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070"/>
                <a:gridCol w="2045691"/>
                <a:gridCol w="1363794"/>
                <a:gridCol w="1636552"/>
                <a:gridCol w="2045691"/>
                <a:gridCol w="1909311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Pendekatan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Aset operasi?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Likuid?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Akses ritel?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Tambah utang PLN?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Yield basis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233"/>
                          </a:solidFill>
                          <a:latin typeface="Calibri"/>
                        </a:rPr>
                        <a:t>Crowdfunding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Tidak (proyek baru)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Rendah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Ya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Proyeksi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233"/>
                          </a:solidFill>
                          <a:latin typeface="Calibri"/>
                        </a:rPr>
                        <a:t>P2P Lending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Tidak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Rendah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Ya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Ya (utang)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Bunga tetap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233"/>
                          </a:solidFill>
                          <a:latin typeface="Calibri"/>
                        </a:rPr>
                        <a:t>REIT / KIK-EBA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Ya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Sedang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Terbatas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Tidak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Sewa aset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233"/>
                          </a:solidFill>
                          <a:latin typeface="Calibri"/>
                        </a:rPr>
                        <a:t>Pinjaman Bank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Tidak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Tidak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Ya (DER↑)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233"/>
                          </a:solidFill>
                          <a:latin typeface="Calibri"/>
                        </a:rPr>
                        <a:t>ChargeChain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Ya 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Tinggi 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Ya 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Tidak 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Arus kas riil 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4023360"/>
            <a:ext cx="11183112" cy="457200"/>
          </a:xfrm>
          <a:prstGeom prst="rect">
            <a:avLst/>
          </a:prstGeom>
          <a:noFill/>
          <a:ln w="254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4754880"/>
            <a:ext cx="11183112" cy="1371600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90118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AD3F3"/>
                </a:solidFill>
                <a:latin typeface="Calibri"/>
              </a:rPr>
              <a:t>🛡️ Unfair Advantage (sulit ditiru kompetitor)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035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FA84F"/>
                </a:solidFill>
                <a:latin typeface="Calibri"/>
              </a:rPr>
              <a:t>✓ Memiliki asetnya: </a:t>
            </a:r>
            <a:r>
              <a:rPr sz="1000" b="0">
                <a:solidFill>
                  <a:srgbClr val="FFFFFF"/>
                </a:solidFill>
                <a:latin typeface="Calibri"/>
              </a:rPr>
              <a:t>PLN pemilik &amp; operator 329+ SPKLU — kompetitor harus membangun dari nol.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79" y="53035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FA84F"/>
                </a:solidFill>
                <a:latin typeface="Calibri"/>
              </a:rPr>
              <a:t>✓ Data &amp; oracle eksklusif: </a:t>
            </a:r>
            <a:r>
              <a:rPr sz="1000" b="0">
                <a:solidFill>
                  <a:srgbClr val="FFFFFF"/>
                </a:solidFill>
                <a:latin typeface="Calibri"/>
              </a:rPr>
              <a:t>akses langsung ke metering &amp; billing real-time.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68756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FA84F"/>
                </a:solidFill>
                <a:latin typeface="Calibri"/>
              </a:rPr>
              <a:t>✓ Kepercayaan &amp; regulasi: </a:t>
            </a:r>
            <a:r>
              <a:rPr sz="1000" b="0">
                <a:solidFill>
                  <a:srgbClr val="FFFFFF"/>
                </a:solidFill>
                <a:latin typeface="Calibri"/>
              </a:rPr>
              <a:t>brand PLN (BUMN) → trust investor &amp; jalur regulasi lebih mulus.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79" y="568756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FA84F"/>
                </a:solidFill>
                <a:latin typeface="Calibri"/>
              </a:rPr>
              <a:t>✓ Skala &amp; jaringan: </a:t>
            </a:r>
            <a:r>
              <a:rPr sz="1000" b="0">
                <a:solidFill>
                  <a:srgbClr val="FFFFFF"/>
                </a:solidFill>
                <a:latin typeface="Calibri"/>
              </a:rPr>
              <a:t>ekosistem PLN Mobile (50+ jt user) sebagai kanal distribusi.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B4D8"/>
                </a:solidFill>
                <a:latin typeface="Calibri"/>
              </a:rPr>
              <a:t>● </a:t>
            </a:r>
            <a:r>
              <a:rPr sz="900" b="1">
                <a:solidFill>
                  <a:srgbClr val="0B2233"/>
                </a:solidFill>
                <a:latin typeface="Calibri"/>
              </a:rPr>
              <a:t>ChargeChain</a:t>
            </a:r>
            <a:r>
              <a:rPr sz="900" b="0">
                <a:solidFill>
                  <a:srgbClr val="5B6B79"/>
                </a:solidFill>
                <a:latin typeface="Calibri"/>
              </a:rPr>
              <a:t>  ·  Innovation Gateway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0015" y="64465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11 / 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121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www.pln.co.id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4370832" cy="292608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43708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D3F3"/>
                </a:solidFill>
                <a:latin typeface="Calibri"/>
              </a:rPr>
              <a:t>SECTION D · BUSINESS &amp;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B2233"/>
                </a:solidFill>
                <a:latin typeface="Calibri"/>
              </a:rPr>
              <a:t>Business Model &amp; Revenue Streams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B79"/>
                </a:solidFill>
                <a:latin typeface="Calibri"/>
              </a:rPr>
              <a:t>Revenue × Cost × Pricing — alur pendapatan per kWh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0116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8483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2233"/>
                </a:solidFill>
                <a:latin typeface="Calibri"/>
              </a:rPr>
              <a:t>Marjin per kWh (Rp 2.608 dibayar pengguna EV)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50592"/>
            <a:ext cx="5120640" cy="384048"/>
          </a:xfrm>
          <a:prstGeom prst="rect">
            <a:avLst/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450592"/>
            <a:ext cx="91440" cy="384048"/>
          </a:xfrm>
          <a:prstGeom prst="rect">
            <a:avLst/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450592"/>
            <a:ext cx="3474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2430"/>
                </a:solidFill>
                <a:latin typeface="Calibri"/>
              </a:rPr>
              <a:t>Tarif jual SPKLU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79" y="2450592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2233"/>
                </a:solidFill>
                <a:latin typeface="Calibri"/>
              </a:rPr>
              <a:t>Rp 2.608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62072"/>
            <a:ext cx="5120640" cy="384048"/>
          </a:xfrm>
          <a:prstGeom prst="rect">
            <a:avLst/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862072"/>
            <a:ext cx="91440" cy="384048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862072"/>
            <a:ext cx="3474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2430"/>
                </a:solidFill>
                <a:latin typeface="Calibri"/>
              </a:rPr>
              <a:t>− PPJ → Pemda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79" y="2862072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5484D"/>
                </a:solidFill>
                <a:latin typeface="Calibri"/>
              </a:rPr>
              <a:t>Rp 142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73552"/>
            <a:ext cx="5120640" cy="384048"/>
          </a:xfrm>
          <a:prstGeom prst="rect">
            <a:avLst/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273552"/>
            <a:ext cx="91440" cy="384048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273552"/>
            <a:ext cx="3474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2430"/>
                </a:solidFill>
                <a:latin typeface="Calibri"/>
              </a:rPr>
              <a:t>− Beban pokok listrik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79" y="3273552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5484D"/>
                </a:solidFill>
                <a:latin typeface="Calibri"/>
              </a:rPr>
              <a:t>Rp 1.150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685032"/>
            <a:ext cx="5120640" cy="384048"/>
          </a:xfrm>
          <a:prstGeom prst="rect">
            <a:avLst/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685032"/>
            <a:ext cx="91440" cy="384048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685032"/>
            <a:ext cx="3474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2430"/>
                </a:solidFill>
                <a:latin typeface="Calibri"/>
              </a:rPr>
              <a:t>− O&amp;M, IoT, payment, asuransi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79" y="3685032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5484D"/>
                </a:solidFill>
                <a:latin typeface="Calibri"/>
              </a:rPr>
              <a:t>Rp 366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096512"/>
            <a:ext cx="5120640" cy="384048"/>
          </a:xfrm>
          <a:prstGeom prst="rect">
            <a:avLst/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96512"/>
            <a:ext cx="91440" cy="3840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4096512"/>
            <a:ext cx="3474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2430"/>
                </a:solidFill>
                <a:latin typeface="Calibri"/>
              </a:rPr>
              <a:t>= Marjin Operasi Bersih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79" y="4096512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Rp 950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507992"/>
            <a:ext cx="5120640" cy="384048"/>
          </a:xfrm>
          <a:prstGeom prst="rect">
            <a:avLst/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507992"/>
            <a:ext cx="91440" cy="3840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4507992"/>
            <a:ext cx="3474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2430"/>
                </a:solidFill>
                <a:latin typeface="Calibri"/>
              </a:rPr>
              <a:t>→ Coupon ke token (investor)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79" y="4507992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8B5CF6"/>
                </a:solidFill>
                <a:latin typeface="Calibri"/>
              </a:rPr>
              <a:t>Rp 400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919472"/>
            <a:ext cx="5120640" cy="384048"/>
          </a:xfrm>
          <a:prstGeom prst="rect">
            <a:avLst/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4919472"/>
            <a:ext cx="91440" cy="384048"/>
          </a:xfrm>
          <a:prstGeom prst="rect">
            <a:avLst/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4919472"/>
            <a:ext cx="3474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2430"/>
                </a:solidFill>
                <a:latin typeface="Calibri"/>
              </a:rPr>
              <a:t>→ Marjin ditahan PLN (+aset)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9079" y="4919472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FA84F"/>
                </a:solidFill>
                <a:latin typeface="Calibri"/>
              </a:rPr>
              <a:t>Rp 550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2084832"/>
            <a:ext cx="5788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2233"/>
                </a:solidFill>
                <a:latin typeface="Calibri"/>
              </a:rPr>
              <a:t>Revenue Streams Platform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97880" y="2450592"/>
            <a:ext cx="5788152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897880" y="2450592"/>
            <a:ext cx="73152" cy="658368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2523744"/>
            <a:ext cx="5422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B2233"/>
                </a:solidFill>
                <a:latin typeface="Calibri"/>
              </a:rPr>
              <a:t>💱 Fee bursa sekunder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2798064"/>
            <a:ext cx="5422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B79"/>
                </a:solidFill>
                <a:latin typeface="Calibri"/>
              </a:rPr>
              <a:t>0,5% per transaksi jual-beli token (berulang)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97880" y="3200400"/>
            <a:ext cx="5788152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897880" y="3200400"/>
            <a:ext cx="73152" cy="658368"/>
          </a:xfrm>
          <a:prstGeom prst="roundRect">
            <a:avLst>
              <a:gd name="adj" fmla="val 6000"/>
            </a:avLst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3273552"/>
            <a:ext cx="5422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B2233"/>
                </a:solidFill>
                <a:latin typeface="Calibri"/>
              </a:rPr>
              <a:t>🏷️ Listing &amp; tokenisasi fee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3547872"/>
            <a:ext cx="5422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B79"/>
                </a:solidFill>
                <a:latin typeface="Calibri"/>
              </a:rPr>
              <a:t>±1% kapitalisasi aset baru yang masuk bursa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897880" y="3950208"/>
            <a:ext cx="5788152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897880" y="3950208"/>
            <a:ext cx="73152" cy="65836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60" y="4023360"/>
            <a:ext cx="5422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B2233"/>
                </a:solidFill>
                <a:latin typeface="Calibri"/>
              </a:rPr>
              <a:t>🖥️ Tech &amp; data licensing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4297680"/>
            <a:ext cx="5422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B79"/>
                </a:solidFill>
                <a:latin typeface="Calibri"/>
              </a:rPr>
              <a:t>SaaS platform + analitik ke operator/Pemda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97880" y="4700016"/>
            <a:ext cx="5788152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897880" y="4700016"/>
            <a:ext cx="73152" cy="658368"/>
          </a:xfrm>
          <a:prstGeom prst="roundRect">
            <a:avLst>
              <a:gd name="adj" fmla="val 6000"/>
            </a:avLst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80760" y="4773168"/>
            <a:ext cx="5422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B2233"/>
                </a:solidFill>
                <a:latin typeface="Calibri"/>
              </a:rPr>
              <a:t>💧 Marjin ditahan PLN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0760" y="5047488"/>
            <a:ext cx="5422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6B79"/>
                </a:solidFill>
                <a:latin typeface="Calibri"/>
              </a:rPr>
              <a:t>Rp 550/kWh × volume (bisnis inti tetap milik PLN)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897880" y="5449824"/>
            <a:ext cx="5788152" cy="868680"/>
          </a:xfrm>
          <a:prstGeom prst="roundRect">
            <a:avLst>
              <a:gd name="adj" fmla="val 6000"/>
            </a:avLst>
          </a:prstGeom>
          <a:solidFill>
            <a:srgbClr val="E9F6FA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80760" y="5541264"/>
            <a:ext cx="54223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B2233"/>
                </a:solidFill>
                <a:latin typeface="Calibri"/>
              </a:rPr>
              <a:t>Unit economics: </a:t>
            </a:r>
            <a:r>
              <a:rPr sz="1050" b="0">
                <a:solidFill>
                  <a:srgbClr val="162430"/>
                </a:solidFill>
                <a:latin typeface="Calibri"/>
              </a:rPr>
              <a:t>dari 1 kWh, PLN menikmati Rp 550 marjin + Rp 400 yang dikelola untuk token; investor menerima Rp 400 × volume token. Skala: ±27 juta kWh/tahun (Jabar).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B4D8"/>
                </a:solidFill>
                <a:latin typeface="Calibri"/>
              </a:rPr>
              <a:t>● </a:t>
            </a:r>
            <a:r>
              <a:rPr sz="900" b="1">
                <a:solidFill>
                  <a:srgbClr val="0B2233"/>
                </a:solidFill>
                <a:latin typeface="Calibri"/>
              </a:rPr>
              <a:t>ChargeChain</a:t>
            </a:r>
            <a:r>
              <a:rPr sz="900" b="0">
                <a:solidFill>
                  <a:srgbClr val="5B6B79"/>
                </a:solidFill>
                <a:latin typeface="Calibri"/>
              </a:rPr>
              <a:t>  ·  Innovation Gateway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80015" y="64465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12 / 21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5121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www.pln.co.id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4370832" cy="292608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43708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D3F3"/>
                </a:solidFill>
                <a:latin typeface="Calibri"/>
              </a:rPr>
              <a:t>SECTION D · BUSINESS &amp;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B2233"/>
                </a:solidFill>
                <a:latin typeface="Calibri"/>
              </a:rPr>
              <a:t>Tokenomics &amp; Sistem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B79"/>
                </a:solidFill>
                <a:latin typeface="Calibri"/>
              </a:rPr>
              <a:t>Nilai rasional diturunkan dari arus kas riil — income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0116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039112"/>
            <a:ext cx="2670048" cy="114300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039112"/>
            <a:ext cx="2670048" cy="64008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185416"/>
            <a:ext cx="23408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00B4D8"/>
                </a:solidFill>
                <a:latin typeface="Calibri"/>
              </a:rPr>
              <a:t>SRT-20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97480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B2233"/>
                </a:solidFill>
                <a:latin typeface="Calibri"/>
              </a:rPr>
              <a:t>STATION REVENUE 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9"/>
                </a:solidFill>
                <a:latin typeface="Calibri"/>
              </a:rPr>
              <a:t>ERC-20 compatible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2039112"/>
            <a:ext cx="2670048" cy="114300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10128" y="2039112"/>
            <a:ext cx="2670048" cy="64008"/>
          </a:xfrm>
          <a:prstGeom prst="roundRect">
            <a:avLst>
              <a:gd name="adj" fmla="val 6000"/>
            </a:avLst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185416"/>
            <a:ext cx="23408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2FA84F"/>
                </a:solidFill>
                <a:latin typeface="Calibri"/>
              </a:rPr>
              <a:t>Rp 100rb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B2233"/>
                </a:solidFill>
                <a:latin typeface="Calibri"/>
              </a:rPr>
              <a:t>NOMINAL / PAR 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9"/>
                </a:solidFill>
                <a:latin typeface="Calibri"/>
              </a:rPr>
              <a:t>tiket ritel terjangkau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17336" y="2039112"/>
            <a:ext cx="2670048" cy="114300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17336" y="2039112"/>
            <a:ext cx="2670048" cy="64008"/>
          </a:xfrm>
          <a:prstGeom prst="roundRect">
            <a:avLst>
              <a:gd name="adj" fmla="val 6000"/>
            </a:avLst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1928" y="2185416"/>
            <a:ext cx="23408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0A82E"/>
                </a:solidFill>
                <a:latin typeface="Calibri"/>
              </a:rPr>
              <a:t>837.600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2697480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B2233"/>
                </a:solidFill>
                <a:latin typeface="Calibri"/>
              </a:rPr>
              <a:t>TOTAL TOKEN BEREDAR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2916936"/>
            <a:ext cx="2340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9"/>
                </a:solidFill>
                <a:latin typeface="Calibri"/>
              </a:rPr>
              <a:t>portofolio Jabar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24544" y="2039112"/>
            <a:ext cx="2761488" cy="114300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24544" y="2039112"/>
            <a:ext cx="2761488" cy="6400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9136" y="2185416"/>
            <a:ext cx="243230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8B5CF6"/>
                </a:solidFill>
                <a:latin typeface="Calibri"/>
              </a:rPr>
              <a:t>13%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697480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B2233"/>
                </a:solidFill>
                <a:latin typeface="Calibri"/>
              </a:rPr>
              <a:t>YIELD @ PAR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9136" y="2916936"/>
            <a:ext cx="2432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9"/>
                </a:solidFill>
                <a:latin typeface="Calibri"/>
              </a:rPr>
              <a:t>= cap rate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364992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51129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D3F3"/>
                </a:solidFill>
                <a:latin typeface="Calibri"/>
              </a:rPr>
              <a:t>Formula Valuasi (income approach)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913632"/>
            <a:ext cx="5120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D3F3"/>
                </a:solidFill>
                <a:latin typeface="Consolas"/>
              </a:rPr>
              <a:t>Coupon Pool/th</a:t>
            </a:r>
            <a:r>
              <a:rPr sz="1200" b="0">
                <a:solidFill>
                  <a:srgbClr val="FFFFFF"/>
                </a:solidFill>
                <a:latin typeface="Consolas"/>
              </a:rPr>
              <a:t> = Energi th (kWh) × coupon/kWh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D3F3"/>
                </a:solidFill>
                <a:latin typeface="Consolas"/>
              </a:rPr>
              <a:t>Fair Value</a:t>
            </a:r>
            <a:r>
              <a:rPr sz="1200" b="0">
                <a:solidFill>
                  <a:srgbClr val="FFFFFF"/>
                </a:solidFill>
                <a:latin typeface="Consolas"/>
              </a:rPr>
              <a:t>      = Coupon Pool ÷ cap_rate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D3F3"/>
                </a:solidFill>
                <a:latin typeface="Consolas"/>
              </a:rPr>
              <a:t>Supply</a:t>
            </a:r>
            <a:r>
              <a:rPr sz="1200" b="0">
                <a:solidFill>
                  <a:srgbClr val="FFFFFF"/>
                </a:solidFill>
                <a:latin typeface="Consolas"/>
              </a:rPr>
              <a:t>           = Fair Value ÷ par (Rp 100rb)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D3F3"/>
                </a:solidFill>
                <a:latin typeface="Consolas"/>
              </a:rPr>
              <a:t>Yield @ par</a:t>
            </a:r>
            <a:r>
              <a:rPr sz="1200" b="0">
                <a:solidFill>
                  <a:srgbClr val="FFFFFF"/>
                </a:solidFill>
                <a:latin typeface="Consolas"/>
              </a:rPr>
              <a:t>     = cap_rate (default 13%)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364992"/>
            <a:ext cx="551383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72200" y="3364992"/>
            <a:ext cx="73152" cy="2103120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3511296"/>
            <a:ext cx="5129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B2233"/>
                </a:solidFill>
                <a:latin typeface="Calibri"/>
              </a:rPr>
              <a:t>📊 Price Discovery di Pasar Sekunder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6" y="3931920"/>
            <a:ext cx="5093208" cy="1463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00B4D8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Harga ditentukan order book — penawaran &amp; permintaan riil.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00B4D8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Okupansi naik → coupon × volume naik → token PREMIUM (yield turun).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00B4D8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SPKLU sepi → token DISKON → yield berjalan lebih tinggi (peluang value).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00B4D8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Parameter (coupon/kWh, cap rate) dapat dikalibrasi → kalkulator live di platform.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B4D8"/>
                </a:solidFill>
                <a:latin typeface="Calibri"/>
              </a:rPr>
              <a:t>● </a:t>
            </a:r>
            <a:r>
              <a:rPr sz="900" b="1">
                <a:solidFill>
                  <a:srgbClr val="0B2233"/>
                </a:solidFill>
                <a:latin typeface="Calibri"/>
              </a:rPr>
              <a:t>ChargeChain</a:t>
            </a:r>
            <a:r>
              <a:rPr sz="900" b="0">
                <a:solidFill>
                  <a:srgbClr val="5B6B79"/>
                </a:solidFill>
                <a:latin typeface="Calibri"/>
              </a:rPr>
              <a:t>  ·  Innovation Gateway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80015" y="64465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13 / 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121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www.pln.co.id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4370832" cy="292608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43708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D3F3"/>
                </a:solidFill>
                <a:latin typeface="Calibri"/>
              </a:rPr>
              <a:t>SECTION D · BUSINESS &amp;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B2233"/>
                </a:solidFill>
                <a:latin typeface="Calibri"/>
              </a:rPr>
              <a:t>Go-to-Market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B79"/>
                </a:solidFill>
                <a:latin typeface="Calibri"/>
              </a:rPr>
              <a:t>3 Fase: Validation → Expansion → Scale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0116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30552"/>
            <a:ext cx="36576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30552"/>
            <a:ext cx="3657600" cy="566928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203704"/>
            <a:ext cx="33284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B2233"/>
                </a:solidFill>
                <a:latin typeface="Calibri"/>
              </a:rPr>
              <a:t>FASE 1 · Y1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404872"/>
            <a:ext cx="3328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Market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62072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 </a:t>
            </a:r>
            <a:r>
              <a:rPr sz="1100">
                <a:solidFill>
                  <a:srgbClr val="162430"/>
                </a:solidFill>
                <a:latin typeface="Calibri"/>
              </a:rPr>
              <a:t>Pilot 30-50 SPKLU Jabar terpilih (okupansi tinggi).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 </a:t>
            </a:r>
            <a:r>
              <a:rPr sz="1100">
                <a:solidFill>
                  <a:srgbClr val="162430"/>
                </a:solidFill>
                <a:latin typeface="Calibri"/>
              </a:rPr>
              <a:t>Soft-launch ke ritel via PLN Mobile + 1 anchor institusi.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00B4D8"/>
                </a:solidFill>
                <a:latin typeface="Calibri"/>
              </a:rPr>
              <a:t>▸  </a:t>
            </a:r>
            <a:r>
              <a:rPr sz="1100">
                <a:solidFill>
                  <a:srgbClr val="162430"/>
                </a:solidFill>
                <a:latin typeface="Calibri"/>
              </a:rPr>
              <a:t>Sandbox regulasi OJK; edukasi &amp; insentif likuiditas awal.</a:t>
            </a:r>
          </a:p>
        </p:txBody>
      </p:sp>
      <p:sp>
        <p:nvSpPr>
          <p:cNvPr id="13" name="Chevron 12"/>
          <p:cNvSpPr/>
          <p:nvPr/>
        </p:nvSpPr>
        <p:spPr>
          <a:xfrm>
            <a:off x="4142232" y="3474720"/>
            <a:ext cx="256032" cy="256032"/>
          </a:xfrm>
          <a:prstGeom prst="chevron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70248" y="2130552"/>
            <a:ext cx="36576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70248" y="2130552"/>
            <a:ext cx="3657600" cy="566928"/>
          </a:xfrm>
          <a:prstGeom prst="roundRect">
            <a:avLst>
              <a:gd name="adj" fmla="val 6000"/>
            </a:avLst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203704"/>
            <a:ext cx="33284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B2233"/>
                </a:solidFill>
                <a:latin typeface="Calibri"/>
              </a:rPr>
              <a:t>FASE 2 · Y2–Y3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404872"/>
            <a:ext cx="3328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Expansion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2862072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2FA84F"/>
                </a:solidFill>
                <a:latin typeface="Calibri"/>
              </a:rPr>
              <a:t>▸  </a:t>
            </a:r>
            <a:r>
              <a:rPr sz="1100">
                <a:solidFill>
                  <a:srgbClr val="162430"/>
                </a:solidFill>
                <a:latin typeface="Calibri"/>
              </a:rPr>
              <a:t>Skala ke seluruh SPKLU PLN Jabar → nasional bertahap.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2FA84F"/>
                </a:solidFill>
                <a:latin typeface="Calibri"/>
              </a:rPr>
              <a:t>▸  </a:t>
            </a:r>
            <a:r>
              <a:rPr sz="1100">
                <a:solidFill>
                  <a:srgbClr val="162430"/>
                </a:solidFill>
                <a:latin typeface="Calibri"/>
              </a:rPr>
              <a:t>Tambah fitur: secondary trading penuh, auto-reinvest.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2FA84F"/>
                </a:solidFill>
                <a:latin typeface="Calibri"/>
              </a:rPr>
              <a:t>▸  </a:t>
            </a:r>
            <a:r>
              <a:rPr sz="1100">
                <a:solidFill>
                  <a:srgbClr val="162430"/>
                </a:solidFill>
                <a:latin typeface="Calibri"/>
              </a:rPr>
              <a:t>Kemitraan ESG fund &amp; sekuritas; cross-sell PLN Group.</a:t>
            </a:r>
          </a:p>
        </p:txBody>
      </p:sp>
      <p:sp>
        <p:nvSpPr>
          <p:cNvPr id="19" name="Chevron 18"/>
          <p:cNvSpPr/>
          <p:nvPr/>
        </p:nvSpPr>
        <p:spPr>
          <a:xfrm>
            <a:off x="7909560" y="3474720"/>
            <a:ext cx="256032" cy="256032"/>
          </a:xfrm>
          <a:prstGeom prst="chevron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37576" y="2130552"/>
            <a:ext cx="36576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37576" y="2130552"/>
            <a:ext cx="3657600" cy="566928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2168" y="2203704"/>
            <a:ext cx="33284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B2233"/>
                </a:solidFill>
                <a:latin typeface="Calibri"/>
              </a:rPr>
              <a:t>FASE 3 · Y4–Y5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2404872"/>
            <a:ext cx="3328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Scale &amp; Ecosystem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2862072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8B5CF6"/>
                </a:solidFill>
                <a:latin typeface="Calibri"/>
              </a:rPr>
              <a:t>▸  </a:t>
            </a:r>
            <a:r>
              <a:rPr sz="1100">
                <a:solidFill>
                  <a:srgbClr val="162430"/>
                </a:solidFill>
                <a:latin typeface="Calibri"/>
              </a:rPr>
              <a:t>Buka untuk operator SPKLU swasta (listing fee).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8B5CF6"/>
                </a:solidFill>
                <a:latin typeface="Calibri"/>
              </a:rPr>
              <a:t>▸  </a:t>
            </a:r>
            <a:r>
              <a:rPr sz="1100">
                <a:solidFill>
                  <a:srgbClr val="162430"/>
                </a:solidFill>
                <a:latin typeface="Calibri"/>
              </a:rPr>
              <a:t>Produk turunan: indeks SPKLU, green bond tokenized.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8B5CF6"/>
                </a:solidFill>
                <a:latin typeface="Calibri"/>
              </a:rPr>
              <a:t>▸  </a:t>
            </a:r>
            <a:r>
              <a:rPr sz="1100">
                <a:solidFill>
                  <a:srgbClr val="162430"/>
                </a:solidFill>
                <a:latin typeface="Calibri"/>
              </a:rPr>
              <a:t>Ekspansi aset lain PLN (PLTS atap, dll).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31266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2233"/>
                </a:solidFill>
                <a:latin typeface="Calibri"/>
              </a:rPr>
              <a:t>Channel: </a:t>
            </a:r>
            <a:r>
              <a:rPr sz="1200" b="0">
                <a:solidFill>
                  <a:srgbClr val="162430"/>
                </a:solidFill>
                <a:latin typeface="Calibri"/>
              </a:rPr>
              <a:t>PLN Mobile (akuisisi massal) · bursa aset digital berlisensi · kemitraan sekuritas/AMC · joint-marketing PLN Group.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B4D8"/>
                </a:solidFill>
                <a:latin typeface="Calibri"/>
              </a:rPr>
              <a:t>● </a:t>
            </a:r>
            <a:r>
              <a:rPr sz="900" b="1">
                <a:solidFill>
                  <a:srgbClr val="0B2233"/>
                </a:solidFill>
                <a:latin typeface="Calibri"/>
              </a:rPr>
              <a:t>ChargeChain</a:t>
            </a:r>
            <a:r>
              <a:rPr sz="900" b="0">
                <a:solidFill>
                  <a:srgbClr val="5B6B79"/>
                </a:solidFill>
                <a:latin typeface="Calibri"/>
              </a:rPr>
              <a:t>  ·  Innovation Gateway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0015" y="64465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14 / 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121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www.pln.co.id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4370832" cy="292608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43708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D3F3"/>
                </a:solidFill>
                <a:latin typeface="Calibri"/>
              </a:rPr>
              <a:t>SECTION D · BUSINESS &amp;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B2233"/>
                </a:solidFill>
                <a:latin typeface="Calibri"/>
              </a:rPr>
              <a:t>Implementation Roadmap &amp; Milestones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20116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8311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115"/>
                <a:gridCol w="1553209"/>
                <a:gridCol w="3727704"/>
                <a:gridCol w="2692230"/>
                <a:gridCol w="1863852"/>
              </a:tblGrid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Fase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Periode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Aktivitas Utama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PIC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233"/>
                          </a:solidFill>
                          <a:latin typeface="Calibri"/>
                        </a:rPr>
                        <a:t>F0 Persiapan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Q3 2026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Kajian hukum (OJK/KIK-EBA), audit aset, arsitektur smart contract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Legal opinion, MVP audited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Inovasi + Legal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233"/>
                          </a:solidFill>
                          <a:latin typeface="Calibri"/>
                        </a:rPr>
                        <a:t>F1 Pilot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Q4 2026 – Q1 2027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Tokenisasi 30-50 SPKLU, sandbox OJK, soft-launch ritel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Bursa live, 1.000+ investor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Tim Inovasi + UID Jabar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233"/>
                          </a:solidFill>
                          <a:latin typeface="Calibri"/>
                        </a:rPr>
                        <a:t>F2 Ekspansi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Q2–Q4 2027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Skala SPKLU Jabar→nasional, anchor institusi, fitur trading penuh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SPKLU PLN nasional listed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PLN Pusat + Subholding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233"/>
                          </a:solidFill>
                          <a:latin typeface="Calibri"/>
                        </a:rPr>
                        <a:t>F3 Skala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2028–2030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Operator swasta, produk turunan, aset PLN lain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Ekosistem aset digital PLN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PLN Group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754880"/>
            <a:ext cx="11183112" cy="640080"/>
          </a:xfrm>
          <a:prstGeom prst="roundRect">
            <a:avLst>
              <a:gd name="adj" fmla="val 6000"/>
            </a:avLst>
          </a:prstGeom>
          <a:solidFill>
            <a:srgbClr val="E9F6FA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6460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2233"/>
                </a:solidFill>
                <a:latin typeface="Calibri"/>
              </a:rPr>
              <a:t>Quick win: </a:t>
            </a:r>
            <a:r>
              <a:rPr sz="1100" b="0">
                <a:solidFill>
                  <a:srgbClr val="162430"/>
                </a:solidFill>
                <a:latin typeface="Calibri"/>
              </a:rPr>
              <a:t>bursa pilot dapat live dalam ~6 bulan karena aset, data, &amp; arus kas sudah tersedia — eksekusi berisiko rendah.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B4D8"/>
                </a:solidFill>
                <a:latin typeface="Calibri"/>
              </a:rPr>
              <a:t>● </a:t>
            </a:r>
            <a:r>
              <a:rPr sz="900" b="1">
                <a:solidFill>
                  <a:srgbClr val="0B2233"/>
                </a:solidFill>
                <a:latin typeface="Calibri"/>
              </a:rPr>
              <a:t>ChargeChain</a:t>
            </a:r>
            <a:r>
              <a:rPr sz="900" b="0">
                <a:solidFill>
                  <a:srgbClr val="5B6B79"/>
                </a:solidFill>
                <a:latin typeface="Calibri"/>
              </a:rPr>
              <a:t>  ·  Innovation Gateway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64465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15 / 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21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www.pln.co.id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4370832" cy="292608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43708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D3F3"/>
                </a:solidFill>
                <a:latin typeface="Calibri"/>
              </a:rPr>
              <a:t>SECTION D · BUSINESS &amp;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B2233"/>
                </a:solidFill>
                <a:latin typeface="Calibri"/>
              </a:rPr>
              <a:t>Resources, Partnership &amp; Ecosystem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20116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363016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73152" cy="3017520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88366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B2233"/>
                </a:solidFill>
                <a:latin typeface="Calibri"/>
              </a:rPr>
              <a:t>🏛️ Internal PLN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304288"/>
            <a:ext cx="3209544" cy="2377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00B4D8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Aset: 329+ SPKLU operasional (Jabar) → nasional.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00B4D8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Data: metering &amp; billing real-time (oracle).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00B4D8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SDM: tim inovasi, IT, keuangan, hukum.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00B4D8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Kanal: PLN Mobile (50+ juta pengguna).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00B4D8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Brand &amp; kredibilitas BUMN.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737360"/>
            <a:ext cx="363016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70248" y="1737360"/>
            <a:ext cx="73152" cy="3017520"/>
          </a:xfrm>
          <a:prstGeom prst="roundRect">
            <a:avLst>
              <a:gd name="adj" fmla="val 6000"/>
            </a:avLst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188366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B2233"/>
                </a:solidFill>
                <a:latin typeface="Calibri"/>
              </a:rPr>
              <a:t>🤝 Partner Eksternal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304288"/>
            <a:ext cx="3209544" cy="2377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2FA84F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Regulator: OJK (perizinan, sandbox).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2FA84F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Kustodian &amp; wali amanat (trust/escrow).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2FA84F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Penyedia blockchain &amp; oracle.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2FA84F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Sekuritas / AMC / ESG fund (anchor).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2FA84F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Auditor independen &amp; legal counsel.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1737360"/>
            <a:ext cx="363016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7575" y="1737360"/>
            <a:ext cx="73152" cy="301752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1883664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B2233"/>
                </a:solidFill>
                <a:latin typeface="Calibri"/>
              </a:rPr>
              <a:t>🌐 Ekosistem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304288"/>
            <a:ext cx="3209544" cy="2377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B5CF6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Pengguna EV &amp; komunitas (demand).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B5CF6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Operator SPKLU swasta (future supply).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B5CF6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Pemda/BUMD (co-investment regional).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B5CF6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Investor ritel &amp; institusi (likuiditas).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B5CF6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Manufaktur EV (sinergi adopsi).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2233"/>
                </a:solidFill>
                <a:latin typeface="Calibri"/>
              </a:rPr>
              <a:t>Modal dasar kuat: </a:t>
            </a:r>
            <a:r>
              <a:rPr sz="1200" b="0">
                <a:solidFill>
                  <a:srgbClr val="162430"/>
                </a:solidFill>
                <a:latin typeface="Calibri"/>
              </a:rPr>
              <a:t>aset, data, kanal distribusi, dan kepercayaan sudah dimiliki PLN — yang ditambahkan hanya lapisan tokenisasi, bursa, dan kepatuhan.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B4D8"/>
                </a:solidFill>
                <a:latin typeface="Calibri"/>
              </a:rPr>
              <a:t>● </a:t>
            </a:r>
            <a:r>
              <a:rPr sz="900" b="1">
                <a:solidFill>
                  <a:srgbClr val="0B2233"/>
                </a:solidFill>
                <a:latin typeface="Calibri"/>
              </a:rPr>
              <a:t>ChargeChain</a:t>
            </a:r>
            <a:r>
              <a:rPr sz="900" b="0">
                <a:solidFill>
                  <a:srgbClr val="5B6B79"/>
                </a:solidFill>
                <a:latin typeface="Calibri"/>
              </a:rPr>
              <a:t>  ·  Innovation Gateway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80015" y="64465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16 / 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21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www.pln.co.id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346704" cy="292608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33467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D3F3"/>
                </a:solidFill>
                <a:latin typeface="Calibri"/>
              </a:rPr>
              <a:t>SECTION E · VALUE &amp;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B2233"/>
                </a:solidFill>
                <a:latin typeface="Calibri"/>
              </a:rPr>
              <a:t>Financial Projections &amp; 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B79"/>
                </a:solidFill>
                <a:latin typeface="Calibri"/>
              </a:rPr>
              <a:t>Proyeksi 5 tahun (Rp Miliar) — asumsi transparan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0116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084832"/>
          <a:ext cx="694943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39"/>
                <a:gridCol w="914400"/>
                <a:gridCol w="914400"/>
                <a:gridCol w="914400"/>
                <a:gridCol w="914400"/>
                <a:gridCol w="9144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Indikator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Y1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Y2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Y3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Y4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Y5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233"/>
                          </a:solidFill>
                          <a:latin typeface="Calibri"/>
                        </a:rPr>
                        <a:t>Kapitalisasi token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360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480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233"/>
                          </a:solidFill>
                          <a:latin typeface="Calibri"/>
                        </a:rPr>
                        <a:t>Modal termobilisasi utk PLN (kum.)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144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192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233"/>
                          </a:solidFill>
                          <a:latin typeface="Calibri"/>
                        </a:rPr>
                        <a:t>Pendapatan platform (fee)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1,3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2,4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3,9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4,6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5,7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233"/>
                          </a:solidFill>
                          <a:latin typeface="Calibri"/>
                        </a:rPr>
                        <a:t>Biaya platform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3,0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3,4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3,8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4,2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4,6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233"/>
                          </a:solidFill>
                          <a:latin typeface="Calibri"/>
                        </a:rPr>
                        <a:t>EBITDA platform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(1,7)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(1,0)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0,1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0,4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1,1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233"/>
                          </a:solidFill>
                          <a:latin typeface="Calibri"/>
                        </a:rPr>
                        <a:t>Marjin ditahan PLN (SPKLU baru)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0,3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1,2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2,8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4,5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6,2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80960" y="2084832"/>
            <a:ext cx="4005072" cy="96012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0" y="2084832"/>
            <a:ext cx="4005072" cy="64008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2231136"/>
            <a:ext cx="367588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00B4D8"/>
                </a:solidFill>
                <a:latin typeface="Calibri"/>
              </a:rPr>
              <a:t>Rp 240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5552" y="2743200"/>
            <a:ext cx="36758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B2233"/>
                </a:solidFill>
                <a:latin typeface="Calibri"/>
              </a:rPr>
              <a:t>MODAL TERMOBILISASI 5-TH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2962656"/>
            <a:ext cx="36758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9"/>
                </a:solidFill>
                <a:latin typeface="Calibri"/>
              </a:rPr>
              <a:t>tanpa utang baru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136392"/>
            <a:ext cx="4005072" cy="96012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80960" y="3136392"/>
            <a:ext cx="4005072" cy="64008"/>
          </a:xfrm>
          <a:prstGeom prst="roundRect">
            <a:avLst>
              <a:gd name="adj" fmla="val 6000"/>
            </a:avLst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3282696"/>
            <a:ext cx="367588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2FA84F"/>
                </a:solidFill>
                <a:latin typeface="Calibri"/>
              </a:rPr>
              <a:t>± Th-3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3794760"/>
            <a:ext cx="36758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B2233"/>
                </a:solidFill>
                <a:latin typeface="Calibri"/>
              </a:rPr>
              <a:t>BREAKEVEN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4014216"/>
            <a:ext cx="36758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9"/>
                </a:solidFill>
                <a:latin typeface="Calibri"/>
              </a:rPr>
              <a:t>EBITDA positif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4187952"/>
            <a:ext cx="4005072" cy="960120"/>
          </a:xfrm>
          <a:prstGeom prst="roundRect">
            <a:avLst>
              <a:gd name="adj" fmla="val 6000"/>
            </a:avLst>
          </a:prstGeom>
          <a:solidFill>
            <a:srgbClr val="F1F6F9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80960" y="4187952"/>
            <a:ext cx="4005072" cy="64008"/>
          </a:xfrm>
          <a:prstGeom prst="roundRect">
            <a:avLst>
              <a:gd name="adj" fmla="val 6000"/>
            </a:avLst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4334256"/>
            <a:ext cx="367588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E0A82E"/>
                </a:solidFill>
                <a:latin typeface="Calibri"/>
              </a:rPr>
              <a:t>Rp 5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4846320"/>
            <a:ext cx="36758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B2233"/>
                </a:solidFill>
                <a:latin typeface="Calibri"/>
              </a:rPr>
              <a:t>CAPEX AWAL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5065776"/>
            <a:ext cx="36758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6B79"/>
                </a:solidFill>
                <a:latin typeface="Calibri"/>
              </a:rPr>
              <a:t>ringan, software-led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965192"/>
            <a:ext cx="11183112" cy="713232"/>
          </a:xfrm>
          <a:prstGeom prst="roundRect">
            <a:avLst>
              <a:gd name="adj" fmla="val 6000"/>
            </a:avLst>
          </a:prstGeom>
          <a:solidFill>
            <a:srgbClr val="E9F6FA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065776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B2233"/>
                </a:solidFill>
                <a:latin typeface="Calibri"/>
              </a:rPr>
              <a:t>Asumsi: </a:t>
            </a:r>
            <a:r>
              <a:rPr sz="1050" b="0">
                <a:solidFill>
                  <a:srgbClr val="162430"/>
                </a:solidFill>
                <a:latin typeface="Calibri"/>
              </a:rPr>
              <a:t>float 40%; turnover token 50%→110%; fee bursa 0,5%; listing fee 1%; cap rate 13%. Nilai strategis utama = mobilisasi modal Rp 240 M untuk percepatan SPKLU, di luar P&amp;L fee platform.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B4D8"/>
                </a:solidFill>
                <a:latin typeface="Calibri"/>
              </a:rPr>
              <a:t>● </a:t>
            </a:r>
            <a:r>
              <a:rPr sz="900" b="1">
                <a:solidFill>
                  <a:srgbClr val="0B2233"/>
                </a:solidFill>
                <a:latin typeface="Calibri"/>
              </a:rPr>
              <a:t>ChargeChain</a:t>
            </a:r>
            <a:r>
              <a:rPr sz="900" b="0">
                <a:solidFill>
                  <a:srgbClr val="5B6B79"/>
                </a:solidFill>
                <a:latin typeface="Calibri"/>
              </a:rPr>
              <a:t>  ·  Innovation Gateway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0015" y="64465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17 / 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121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www.pln.co.id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346704" cy="292608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33467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D3F3"/>
                </a:solidFill>
                <a:latin typeface="Calibri"/>
              </a:rPr>
              <a:t>SECTION E · VALUE &amp;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B2233"/>
                </a:solidFill>
                <a:latin typeface="Calibri"/>
              </a:rPr>
              <a:t>Strategic Impact (Non-Financial Value)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B79"/>
                </a:solidFill>
                <a:latin typeface="Calibri"/>
              </a:rPr>
              <a:t>Brand × ESG × Strategic × Capability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0116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084832"/>
            <a:ext cx="267004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084832"/>
            <a:ext cx="73152" cy="2377440"/>
          </a:xfrm>
          <a:prstGeom prst="roundRect">
            <a:avLst>
              <a:gd name="adj" fmla="val 6000"/>
            </a:avLst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23113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2233"/>
                </a:solidFill>
                <a:latin typeface="Calibri"/>
              </a:rPr>
              <a:t>🏆 Brand &amp; Reputasi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651760"/>
            <a:ext cx="2249424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E0A82E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PLN sebagai PIONIR tokenisasi aset energi di Indonesia.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E0A82E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Potensi liputan media &amp; awards inovasi.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2084832"/>
            <a:ext cx="267004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2084832"/>
            <a:ext cx="73152" cy="2377440"/>
          </a:xfrm>
          <a:prstGeom prst="roundRect">
            <a:avLst>
              <a:gd name="adj" fmla="val 6000"/>
            </a:avLst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223113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2233"/>
                </a:solidFill>
                <a:latin typeface="Calibri"/>
              </a:rPr>
              <a:t>🌱 ESG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651760"/>
            <a:ext cx="2249424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2FA84F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Percepatan SPKLU → adopsi EV → reduksi emisi CO₂.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2FA84F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Green asset class + inklusi keuangan publik.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084832"/>
            <a:ext cx="267004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2084832"/>
            <a:ext cx="73152" cy="2377440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23113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2233"/>
                </a:solidFill>
                <a:latin typeface="Calibri"/>
              </a:rPr>
              <a:t>🎯 Strategic Positioning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651760"/>
            <a:ext cx="2249424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00B4D8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Model baru monetisasi aset → dapat direplikasi (PLTS, dll).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00B4D8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Memperkuat ekosistem digital PLN Mobile.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2084832"/>
            <a:ext cx="267004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06840" y="2084832"/>
            <a:ext cx="73152" cy="237744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8008" y="2231136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2233"/>
                </a:solidFill>
                <a:latin typeface="Calibri"/>
              </a:rPr>
              <a:t>🛠️ Capability Building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2651760"/>
            <a:ext cx="2249424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B5CF6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Kapabilitas baru: tokenisasi, smart contract, capital market.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8B5CF6"/>
                </a:solidFill>
                <a:latin typeface="Calibri"/>
              </a:rPr>
              <a:t>•  </a:t>
            </a:r>
            <a:r>
              <a:rPr sz="1050">
                <a:solidFill>
                  <a:srgbClr val="162430"/>
                </a:solidFill>
                <a:latin typeface="Calibri"/>
              </a:rPr>
              <a:t>Talenta &amp; IP digital-finance untuk PLN.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690872"/>
            <a:ext cx="11183112" cy="914400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80974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AD3F3"/>
                </a:solidFill>
                <a:latin typeface="Calibri"/>
              </a:rPr>
              <a:t>Indikator Terukur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1023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1AD3F3"/>
                </a:solidFill>
                <a:latin typeface="Calibri"/>
              </a:rPr>
              <a:t>▸  </a:t>
            </a:r>
            <a:r>
              <a:rPr sz="1050">
                <a:solidFill>
                  <a:srgbClr val="FFFFFF"/>
                </a:solidFill>
                <a:latin typeface="Calibri"/>
              </a:rPr>
              <a:t>+250 SPKLU dipercepat · ton CO₂ dihindari (terukur dari volume EV) · jumlah investor ritel onboarded · media coverage &amp; ESG rating.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B4D8"/>
                </a:solidFill>
                <a:latin typeface="Calibri"/>
              </a:rPr>
              <a:t>● </a:t>
            </a:r>
            <a:r>
              <a:rPr sz="900" b="1">
                <a:solidFill>
                  <a:srgbClr val="0B2233"/>
                </a:solidFill>
                <a:latin typeface="Calibri"/>
              </a:rPr>
              <a:t>ChargeChain</a:t>
            </a:r>
            <a:r>
              <a:rPr sz="900" b="0">
                <a:solidFill>
                  <a:srgbClr val="5B6B79"/>
                </a:solidFill>
                <a:latin typeface="Calibri"/>
              </a:rPr>
              <a:t>  ·  Innovation Gateway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80015" y="64465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18 / 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121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www.pln.co.id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346704" cy="292608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334670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D3F3"/>
                </a:solidFill>
                <a:latin typeface="Calibri"/>
              </a:rPr>
              <a:t>SECTION E · VALUE &amp;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B2233"/>
                </a:solidFill>
                <a:latin typeface="Calibri"/>
              </a:rPr>
              <a:t>Risk, Mitigation &amp;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5B6B79"/>
                </a:solidFill>
                <a:latin typeface="Calibri"/>
              </a:rPr>
              <a:t>Risk Map (Likelihood × Impact) + Mitigasi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0116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084832"/>
          <a:ext cx="1118311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1716"/>
                <a:gridCol w="1217962"/>
                <a:gridCol w="1107238"/>
                <a:gridCol w="5536194"/>
              </a:tblGrid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Risiko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Likelihood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Mitigasi</a:t>
                      </a:r>
                    </a:p>
                  </a:txBody>
                  <a:tcPr marL="73152" marR="54864" marT="18288" marB="18288" anchor="ctr">
                    <a:solidFill>
                      <a:srgbClr val="0B223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233"/>
                          </a:solidFill>
                          <a:latin typeface="Calibri"/>
                        </a:rPr>
                        <a:t>Regulasi aset digital belum pasti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Tinggi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Tinggi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Sandbox OJK sejak awal; struktur KIK-EBA/sukuk; legal counsel.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233"/>
                          </a:solidFill>
                          <a:latin typeface="Calibri"/>
                        </a:rPr>
                        <a:t>Likuiditas pasar sekunder rendah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Sedang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Tinggi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Market maker &amp; insentif likuiditas; anchor institusi; buyback PLN.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233"/>
                          </a:solidFill>
                          <a:latin typeface="Calibri"/>
                        </a:rPr>
                        <a:t>Fluktuasi volume pengisian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Sedang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Sedang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Diversifikasi portofolio lintas SPKLU; coupon konservatif (Rp 400).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233"/>
                          </a:solidFill>
                          <a:latin typeface="Calibri"/>
                        </a:rPr>
                        <a:t>Keamanan smart contract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Rendah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Tinggi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Audit independen; bug bounty; multisig &amp; circuit breaker.</a:t>
                      </a:r>
                    </a:p>
                  </a:txBody>
                  <a:tcPr marL="73152" marR="54864" marT="18288" marB="18288" anchor="ctr">
                    <a:solidFill>
                      <a:srgbClr val="F1F6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233"/>
                          </a:solidFill>
                          <a:latin typeface="Calibri"/>
                        </a:rPr>
                        <a:t>Persepsi 'spekulatif'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Sedang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Sedang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>
                          <a:solidFill>
                            <a:srgbClr val="162430"/>
                          </a:solidFill>
                          <a:latin typeface="Calibri"/>
                        </a:rPr>
                        <a:t>Edukasi; framing asset-backed; transparansi data on-chain.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239512"/>
            <a:ext cx="11183112" cy="566928"/>
          </a:xfrm>
          <a:prstGeom prst="roundRect">
            <a:avLst>
              <a:gd name="adj" fmla="val 6000"/>
            </a:avLst>
          </a:prstGeom>
          <a:solidFill>
            <a:srgbClr val="E9F6FA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3309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2233"/>
                </a:solidFill>
                <a:latin typeface="Calibri"/>
              </a:rPr>
              <a:t>Compliance: </a:t>
            </a:r>
            <a:r>
              <a:rPr sz="1100" b="0">
                <a:solidFill>
                  <a:srgbClr val="162430"/>
                </a:solidFill>
                <a:latin typeface="Calibri"/>
              </a:rPr>
              <a:t>KYC/AML, perlindungan investor (OJK), tata kelola PLN, audit berkala, &amp; keterbukaan informasi — bukan ajakan investasi tanpa izin.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B4D8"/>
                </a:solidFill>
                <a:latin typeface="Calibri"/>
              </a:rPr>
              <a:t>● </a:t>
            </a:r>
            <a:r>
              <a:rPr sz="900" b="1">
                <a:solidFill>
                  <a:srgbClr val="0B2233"/>
                </a:solidFill>
                <a:latin typeface="Calibri"/>
              </a:rPr>
              <a:t>ChargeChain</a:t>
            </a:r>
            <a:r>
              <a:rPr sz="900" b="0">
                <a:solidFill>
                  <a:srgbClr val="5B6B79"/>
                </a:solidFill>
                <a:latin typeface="Calibri"/>
              </a:rPr>
              <a:t>  ·  Innovation Gateway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80015" y="64465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19 / 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21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www.pln.co.id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57200"/>
            <a:ext cx="3602736" cy="292608"/>
          </a:xfrm>
          <a:prstGeom prst="roundRect">
            <a:avLst>
              <a:gd name="adj" fmla="val 6000"/>
            </a:avLst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48056"/>
            <a:ext cx="360273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AD3F3"/>
                </a:solidFill>
                <a:latin typeface="Calibri"/>
              </a:rPr>
              <a:t>SECTION F · TEAM &amp;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B2233"/>
                </a:solidFill>
                <a:latin typeface="Calibri"/>
              </a:rPr>
              <a:t>Tim Inovasi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2011680" cy="4114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363016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630168" cy="73152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60804" y="2103120"/>
            <a:ext cx="914400" cy="914400"/>
          </a:xfrm>
          <a:prstGeom prst="ellipse">
            <a:avLst/>
          </a:prstGeom>
          <a:solidFill>
            <a:srgbClr val="F1F6F9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3630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0">
                <a:solidFill>
                  <a:srgbClr val="162430"/>
                </a:solidFill>
                <a:latin typeface="Calibri"/>
              </a:rP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54680"/>
            <a:ext cx="3630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B2233"/>
                </a:solidFill>
                <a:latin typeface="Calibri"/>
              </a:rPr>
              <a:t>👤 &lt;Nama 1&gt;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03604" y="3474720"/>
            <a:ext cx="1828800" cy="292608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3604" y="3465576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Business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308152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0B4D8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Strategi bisnis &amp; komersialisasi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0B4D8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Pengalaman: &lt;isi&gt;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42816" y="1828800"/>
            <a:ext cx="363016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42816" y="1828800"/>
            <a:ext cx="3630168" cy="73152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00700" y="2103120"/>
            <a:ext cx="914400" cy="914400"/>
          </a:xfrm>
          <a:prstGeom prst="ellipse">
            <a:avLst/>
          </a:prstGeom>
          <a:solidFill>
            <a:srgbClr val="F1F6F9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2816" y="2286000"/>
            <a:ext cx="3630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0">
                <a:solidFill>
                  <a:srgbClr val="162430"/>
                </a:solidFill>
                <a:latin typeface="Calibri"/>
              </a:rP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2816" y="3154680"/>
            <a:ext cx="3630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B2233"/>
                </a:solidFill>
                <a:latin typeface="Calibri"/>
              </a:rPr>
              <a:t>👤 &lt;Nama 2&gt;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43500" y="3474720"/>
            <a:ext cx="1828800" cy="292608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3500" y="3465576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Tech / Product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3886200"/>
            <a:ext cx="308152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0B4D8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Arsitektur platform &amp; smart contract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0B4D8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Pengalaman: &lt;isi&gt;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82712" y="1828800"/>
            <a:ext cx="363016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82712" y="1828800"/>
            <a:ext cx="3630168" cy="73152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40596" y="2103120"/>
            <a:ext cx="914400" cy="914400"/>
          </a:xfrm>
          <a:prstGeom prst="ellipse">
            <a:avLst/>
          </a:prstGeom>
          <a:solidFill>
            <a:srgbClr val="F1F6F9"/>
          </a:solidFill>
          <a:ln w="1270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82712" y="2286000"/>
            <a:ext cx="36301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0">
                <a:solidFill>
                  <a:srgbClr val="162430"/>
                </a:solidFill>
                <a:latin typeface="Calibri"/>
              </a:rPr>
              <a:t>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154680"/>
            <a:ext cx="3630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B2233"/>
                </a:solidFill>
                <a:latin typeface="Calibri"/>
              </a:rPr>
              <a:t>👤 &lt;Nama 3&gt;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83396" y="3474720"/>
            <a:ext cx="1828800" cy="292608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83396" y="3465576"/>
            <a:ext cx="1828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Finance / Risk Lead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2" y="3886200"/>
            <a:ext cx="308152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0B4D8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Valuasi, keuangan &amp; kepatuhan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00" b="1">
                <a:solidFill>
                  <a:srgbClr val="00B4D8"/>
                </a:solidFill>
                <a:latin typeface="Calibri"/>
              </a:rPr>
              <a:t>•  </a:t>
            </a:r>
            <a:r>
              <a:rPr sz="1000">
                <a:solidFill>
                  <a:srgbClr val="162430"/>
                </a:solidFill>
                <a:latin typeface="Calibri"/>
              </a:rPr>
              <a:t>Pengalaman: &lt;isi&gt;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709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2233"/>
                </a:solidFill>
                <a:latin typeface="Calibri"/>
              </a:rPr>
              <a:t>Catatan: </a:t>
            </a:r>
            <a:r>
              <a:rPr sz="1100" b="0" i="1">
                <a:solidFill>
                  <a:srgbClr val="5B6B79"/>
                </a:solidFill>
                <a:latin typeface="Calibri"/>
              </a:rPr>
              <a:t>lengkapi profil tim (pendidikan, track record, kompetensi unik) — panel menilai kemampuan eksekusi &amp; kekomplementeran peran.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0B4D8"/>
                </a:solidFill>
                <a:latin typeface="Calibri"/>
              </a:rPr>
              <a:t>● </a:t>
            </a:r>
            <a:r>
              <a:rPr sz="900" b="1">
                <a:solidFill>
                  <a:srgbClr val="0B2233"/>
                </a:solidFill>
                <a:latin typeface="Calibri"/>
              </a:rPr>
              <a:t>ChargeChain</a:t>
            </a:r>
            <a:r>
              <a:rPr sz="900" b="0">
                <a:solidFill>
                  <a:srgbClr val="5B6B79"/>
                </a:solidFill>
                <a:latin typeface="Calibri"/>
              </a:rPr>
              <a:t>  ·  Innovation Gateway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80015" y="64465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20 / 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1215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5B6B79"/>
                </a:solidFill>
                <a:latin typeface="Calibri"/>
              </a:rPr>
              <a:t>www.pln.co.id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40080"/>
            <a:ext cx="4882896" cy="292608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30936"/>
            <a:ext cx="4882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2233"/>
                </a:solidFill>
                <a:latin typeface="Calibri"/>
              </a:rPr>
              <a:t>SECTION F · CLOSING / CALL TO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0972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ChargeChain — saatnya jaringan SPKLU bekerja dua kali.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3630168" cy="1463040"/>
          </a:xfrm>
          <a:prstGeom prst="roundRect">
            <a:avLst>
              <a:gd name="adj" fmla="val 6000"/>
            </a:avLst>
          </a:prstGeom>
          <a:solidFill>
            <a:srgbClr val="102E44"/>
          </a:solidFill>
          <a:ln w="1524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59" y="2267712"/>
            <a:ext cx="1170432" cy="292608"/>
          </a:xfrm>
          <a:prstGeom prst="roundRect">
            <a:avLst>
              <a:gd name="adj" fmla="val 6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258568"/>
            <a:ext cx="11704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B2233"/>
                </a:solidFill>
                <a:latin typeface="Calibri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697479"/>
            <a:ext cx="32644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Modal SPKLU terkunci di aset; arus kas Rp 70,7 M/th belum termonetisasi.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2103120"/>
            <a:ext cx="3630168" cy="1463040"/>
          </a:xfrm>
          <a:prstGeom prst="roundRect">
            <a:avLst>
              <a:gd name="adj" fmla="val 6000"/>
            </a:avLst>
          </a:prstGeom>
          <a:solidFill>
            <a:srgbClr val="102E44"/>
          </a:solidFill>
          <a:ln w="15240">
            <a:solidFill>
              <a:srgbClr val="00B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44568" y="2267712"/>
            <a:ext cx="1298448" cy="292608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258568"/>
            <a:ext cx="12984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B2233"/>
                </a:solidFill>
                <a:latin typeface="Calibri"/>
              </a:rPr>
              <a:t>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697479"/>
            <a:ext cx="32644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Bursa token bagi-hasil beragun SPKLU operasional — likuid &amp; transparan.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2103120"/>
            <a:ext cx="3630168" cy="1463040"/>
          </a:xfrm>
          <a:prstGeom prst="roundRect">
            <a:avLst>
              <a:gd name="adj" fmla="val 6000"/>
            </a:avLst>
          </a:prstGeom>
          <a:solidFill>
            <a:srgbClr val="102E44"/>
          </a:solidFill>
          <a:ln w="15240">
            <a:solidFill>
              <a:srgbClr val="2FA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66175" y="2267712"/>
            <a:ext cx="914400" cy="292608"/>
          </a:xfrm>
          <a:prstGeom prst="roundRect">
            <a:avLst>
              <a:gd name="adj" fmla="val 6000"/>
            </a:avLst>
          </a:prstGeom>
          <a:solidFill>
            <a:srgbClr val="2FA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5" y="2258568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B2233"/>
                </a:solidFill>
                <a:latin typeface="Calibri"/>
              </a:rPr>
              <a:t>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2697479"/>
            <a:ext cx="326440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Mobilisasi ±Rp 240 M modal untuk PLN tanpa utang; aset &amp; kendali tetap milik PLN.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94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D3F3"/>
                </a:solidFill>
                <a:latin typeface="Calibri"/>
              </a:rPr>
              <a:t>Why Now:  </a:t>
            </a:r>
            <a:r>
              <a:rPr sz="1300" b="0">
                <a:solidFill>
                  <a:srgbClr val="FFFFFF"/>
                </a:solidFill>
                <a:latin typeface="Calibri"/>
              </a:rPr>
              <a:t>regulasi, teknologi, &amp; aset operasional siap bersamaan — momentum first-mover.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D3F3"/>
                </a:solidFill>
                <a:latin typeface="Calibri"/>
              </a:rPr>
              <a:t>Why Us:  </a:t>
            </a:r>
            <a:r>
              <a:rPr sz="1300" b="0">
                <a:solidFill>
                  <a:srgbClr val="FFFFFF"/>
                </a:solidFill>
                <a:latin typeface="Calibri"/>
              </a:rPr>
              <a:t>hanya PLN yang memiliki aset, data, kanal, &amp; kepercayaan untuk mengeksekusi ini.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709160"/>
            <a:ext cx="10972800" cy="777240"/>
          </a:xfrm>
          <a:prstGeom prst="roundRect">
            <a:avLst>
              <a:gd name="adj" fmla="val 6000"/>
            </a:avLst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109728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B2233"/>
                </a:solidFill>
                <a:latin typeface="Calibri"/>
              </a:rPr>
              <a:t>✦  ASK:  </a:t>
            </a:r>
            <a:r>
              <a:rPr sz="1400" b="1">
                <a:solidFill>
                  <a:srgbClr val="0B2233"/>
                </a:solidFill>
                <a:latin typeface="Calibri"/>
              </a:rPr>
              <a:t>Persetujuan untuk pilot tokenisasi 30-50 SPKLU Jabar + dukungan masuk sandbox OJK (Q3-Q4 2026).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FA6B4"/>
                </a:solidFill>
                <a:latin typeface="Calibri"/>
              </a:rPr>
              <a:t>www.pln.co.id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640080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8FA6B4"/>
                </a:solidFill>
                <a:latin typeface="Calibri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